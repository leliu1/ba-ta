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🧠 字节跳动 BA 业务架构画像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ingFang SC"/>
              </a:defRPr>
            </a:pPr>
            <a:r>
              <a:t>华为"看BA讲TA"方法论 · 察阶段 | 2026-06-01 v3.1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客户基本画像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25880"/>
          <a:ext cx="5943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0292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客户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字节跳动（ByteDance）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营收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2025 ~1860亿$(Bloomberg) / ~1983亿$(Sacra)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利润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~500亿$，同比↓&gt;70%（AI投入）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广告55-60% · 电商15-20% · 云+AI 5-10%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成熟期 + AI转型深水区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&gt;2000亿元 → 上限$700亿(彭博5/27)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3291840"/>
            <a:ext cx="10972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337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PingFang SC"/>
              </a:defRPr>
            </a:pPr>
            <a:r>
              <a:t>3.45亿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639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豆包MAU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291840"/>
            <a:ext cx="10972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337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PingFang SC"/>
              </a:defRPr>
            </a:pPr>
            <a:r>
              <a:t>120万亿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639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日均Token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291840"/>
            <a:ext cx="10972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3337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PingFang SC"/>
              </a:defRPr>
            </a:pPr>
            <a:r>
              <a:t>$700亿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3639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Capex上限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291840"/>
            <a:ext cx="10972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3337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PingFang SC"/>
              </a:defRPr>
            </a:pPr>
            <a:r>
              <a:t>49.5%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639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MaaS份额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291840"/>
            <a:ext cx="10972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337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PingFang SC"/>
              </a:defRPr>
            </a:pPr>
            <a:r>
              <a:t>600万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639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Trae开发者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核心业务矩阵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206240"/>
              </a:tblGrid>
              <a:tr h="32003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内容/社区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抖音(7亿DAU)、TikTok(10亿DAU)、头条(3亿MAU)</a:t>
                      </a:r>
                    </a:p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番茄小说(2.45亿MAU)、懂车帝(汽车第一)、红果短剧(3亿MAU)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创作工具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剪映/CapCut(全球TOP1)、即梦AI(7994万MAU)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AI应用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豆包(3.45亿MAU)、Trae(600万开发者)、扣子Coze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企业服务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火山引擎(MaaS 49.5%第一)、飞书(Q1超预期)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电商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抖音电商(GMV~25%)、TikTok Shop(近千亿$)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583680" y="4160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PingFang SC"/>
              </a:defRPr>
            </a:pPr>
            <a:r>
              <a:t>地域结构（36氪2026.04独家）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83680" y="4480560"/>
          <a:ext cx="53035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05840"/>
                <a:gridCol w="237744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区域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增速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驱动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抖音电商增速放缓至25%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~30%(24年25%)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TikTok Shop GMV增速~70%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74320" y="42976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PingFang SC"/>
              </a:defRPr>
            </a:pPr>
            <a:r>
              <a:t>核心价值主张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617720"/>
            <a:ext cx="2834640" cy="82296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PingFang SC"/>
              </a:defRPr>
            </a:pPr>
            <a:r>
              <a:t>C端</a:t>
            </a:r>
          </a:p>
          <a:p>
            <a:pPr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"AI重新定义信息获取、内容创作和消费体验"</a:t>
            </a:r>
          </a:p>
          <a:p>
            <a:pPr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豆包3.45亿MAU是超级入口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4617720"/>
            <a:ext cx="2834640" cy="82296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663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PingFang SC"/>
              </a:defRPr>
            </a:pPr>
            <a:r>
              <a:t>B端（火山引擎）</a:t>
            </a:r>
          </a:p>
          <a:p>
            <a:pPr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"企业AI化的核心底座"</a:t>
            </a:r>
          </a:p>
          <a:p>
            <a:pPr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卖Token→卖Agent能力平台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PingFang SC"/>
              </a:defRPr>
            </a:pPr>
            <a:r>
              <a:t>来源：36氪·Bloomberg·Reuters·财联社·IDC·QuestMobile·Sacra·寒武纪财报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关键AI基建供应商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ingFang SC"/>
              </a:defRPr>
            </a:pPr>
            <a:r>
              <a:t>英伟达对华冻结，份额降至~8% · 新三角：高通+AMD+Broadcom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669280" cy="3657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🌍 海外芯片供应链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669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英伟达退场 → 高通AI ASIC + AMD GPU + Broadcom网络芯片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783080"/>
          <a:ext cx="56692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2801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供应商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供应内容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规模/状态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高通 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AI ASIC + 联合制造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数百万颗(彭博5/26)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推理ASIC主力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GPU（MI系列）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规模待确认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训练+推理GPU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Broadcom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网络芯片/ASIC 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AIDC+潜在IP合作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数据中心网络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3108960"/>
            <a:ext cx="5669280" cy="3657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🇨🇳 国产芯片供应链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3566160"/>
          <a:ext cx="566928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1371600"/>
                <a:gridCol w="9144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供应商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供应内容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规模/状态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华为昇腾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910C(训练)+950PR(推理)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25-35万颗950PR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国产核心供应商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寒武纪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思元590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30万颗(排至2027)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推理主力·Q1首盈&gt;10亿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4480560"/>
            <a:ext cx="5669280" cy="3657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🔧 自研芯片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4937760"/>
          <a:ext cx="56692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Ada/SeedChip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三星6nm AI推理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2026量产10-35万颗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自研CPU 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ARM+RISC-V双路线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路透5/28曝光·早期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高通联合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ASIC设计+晶圆制造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数百万颗推进中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1005840"/>
            <a:ext cx="5486400" cy="3657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芯片供应六线并行全景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08760"/>
            <a:ext cx="256032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训练GPU</a:t>
            </a:r>
          </a:p>
          <a:p>
            <a:pPr>
              <a:defRPr sz="1000" b="0">
                <a:solidFill>
                  <a:srgbClr val="1E293B"/>
                </a:solidFill>
                <a:latin typeface="PingFang SC"/>
              </a:defRPr>
            </a:pPr>
            <a:r>
              <a:t>昇腾910C ~7万颗</a:t>
            </a:r>
          </a:p>
          <a:p>
            <a:pPr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AMD MI系列(新供应商)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508760"/>
            <a:ext cx="2743200" cy="7315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PingFang SC"/>
              </a:defRPr>
            </a:pPr>
            <a:r>
              <a:t>推理NPU</a:t>
            </a:r>
          </a:p>
          <a:p>
            <a:pPr>
              <a:defRPr sz="1000" b="0">
                <a:solidFill>
                  <a:srgbClr val="1E293B"/>
                </a:solidFill>
                <a:latin typeface="PingFang SC"/>
              </a:defRPr>
            </a:pPr>
            <a:r>
              <a:t>昇腾950PR 25-35万颗</a:t>
            </a:r>
          </a:p>
          <a:p>
            <a:pPr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寒武纪590 30万颗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77440"/>
            <a:ext cx="2560320" cy="73152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PingFang SC"/>
              </a:defRPr>
            </a:pPr>
            <a:r>
              <a:t>推理ASIC 🆕</a:t>
            </a:r>
          </a:p>
          <a:p>
            <a:pPr>
              <a:defRPr sz="1000" b="0">
                <a:solidFill>
                  <a:srgbClr val="1E293B"/>
                </a:solidFill>
                <a:latin typeface="PingFang SC"/>
              </a:defRPr>
            </a:pPr>
            <a:r>
              <a:t>高通数百万颗</a:t>
            </a:r>
          </a:p>
          <a:p>
            <a:pPr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5/26彭博独家确认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377440"/>
            <a:ext cx="2743200" cy="73152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PingFang SC"/>
              </a:defRPr>
            </a:pPr>
            <a:r>
              <a:t>自研芯片</a:t>
            </a:r>
          </a:p>
          <a:p>
            <a:pPr>
              <a:defRPr sz="1000" b="0">
                <a:solidFill>
                  <a:srgbClr val="1E293B"/>
                </a:solidFill>
                <a:latin typeface="PingFang SC"/>
              </a:defRPr>
            </a:pPr>
            <a:r>
              <a:t>Ada 10-35万颗(三星6nm)</a:t>
            </a:r>
          </a:p>
          <a:p>
            <a:pPr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CPU ARM+RISC-V早期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5486400" cy="4572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291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PingFang SC"/>
              </a:defRPr>
            </a:pPr>
            <a:r>
              <a:t>💰 2026 AI芯片采购预算：850亿 → 上限4777亿（中国最大单客户AI芯片销售机会）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86200"/>
            <a:ext cx="548640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931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PingFang SC"/>
              </a:defRPr>
            </a:pPr>
            <a:r>
              <a:t>推理NPU缺口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9319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昇腾预订满</a:t>
            </a:r>
            <a:br/>
            <a:r>
              <a:t>寒武纪排至2027</a:t>
            </a:r>
            <a:br/>
            <a:r>
              <a:t>高通ASIC填补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00600"/>
            <a:ext cx="548640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46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PingFang SC"/>
              </a:defRPr>
            </a:pPr>
            <a:r>
              <a:t>训练GPU缺口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8463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英伟达退场→8%</a:t>
            </a:r>
            <a:br/>
            <a:r>
              <a:t>910C供应受限</a:t>
            </a:r>
            <a:br/>
            <a:r>
              <a:t>AMD新入局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715000"/>
            <a:ext cx="548640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760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PingFang SC"/>
              </a:defRPr>
            </a:pPr>
            <a:r>
              <a:t>新增机会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7607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高通数百万ASIC</a:t>
            </a:r>
            <a:br/>
            <a:r>
              <a:t>适配集成服务</a:t>
            </a:r>
            <a:br/>
            <a:r>
              <a:t>自研CPU工具链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PingFang SC"/>
              </a:defRPr>
            </a:pPr>
            <a:r>
              <a:t>来源：Bloomberg(5/26,5/27)·Reuters(5/28)·财联社(5/9,5/11)·寒武纪Q1财报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核心业务流程 — 双轨制 + 业务痛点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ingFang SC"/>
              </a:defRPr>
            </a:pPr>
            <a:r>
              <a:t>两套AI价值链路并行，算力需求叠加驱动Capex增长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60120"/>
            <a:ext cx="4754880" cy="320040"/>
          </a:xfrm>
          <a:prstGeom prst="roundRect">
            <a:avLst/>
          </a:prstGeom>
          <a:solidFill>
            <a:srgbClr val="64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◀ 左轨：搜索推荐AI闭环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420624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抖音/TikTok/头条用户行为</a:t>
            </a:r>
          </a:p>
        </p:txBody>
      </p:sp>
      <p:sp>
        <p:nvSpPr>
          <p:cNvPr id="6" name="Down Arrow 5"/>
          <p:cNvSpPr/>
          <p:nvPr/>
        </p:nvSpPr>
        <p:spPr>
          <a:xfrm>
            <a:off x="2331720" y="1920240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420624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海量行为数据</a:t>
            </a:r>
          </a:p>
        </p:txBody>
      </p:sp>
      <p:sp>
        <p:nvSpPr>
          <p:cNvPr id="8" name="Down Arrow 7"/>
          <p:cNvSpPr/>
          <p:nvPr/>
        </p:nvSpPr>
        <p:spPr>
          <a:xfrm>
            <a:off x="2331720" y="2560320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420624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LLM级生成式推荐</a:t>
            </a:r>
            <a:br/>
            <a:r>
              <a:t>RankMixer→OneTrans→HyFormer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331720" y="3200400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337559"/>
            <a:ext cx="420624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广告+电商转化</a:t>
            </a:r>
            <a:br/>
            <a:r>
              <a:t>(核心收入~70%)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331720" y="3840479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420624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AI基础设施持续投入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331720" y="4480559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420624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更强推荐模型</a:t>
            </a:r>
            <a:br/>
            <a:r>
              <a:t>(更长序列·更大参数)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331720" y="5120640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257799"/>
            <a:ext cx="420624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更好体验→更多用户 → 封闭飞轮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" y="5943600"/>
            <a:ext cx="4754880" cy="32004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💡 芯片需求：训练GPU(昇腾910C+AMD)为主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60120"/>
            <a:ext cx="47548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▶ 右轨：AIGC-Agent应用闭环 ⭐主线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1417320"/>
            <a:ext cx="43891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豆包大模型 Seed-2.0-pro/lite/Thinking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2057400"/>
            <a:ext cx="137160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084831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PingFang SC"/>
              </a:defRPr>
            </a:pPr>
            <a:r>
              <a:t>豆包App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3.45亿MAU</a:t>
            </a:r>
            <a:br/>
            <a:r>
              <a:t>120万亿Token/日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79" y="2057400"/>
            <a:ext cx="137160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7999" y="2084831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PingFang SC"/>
              </a:defRPr>
            </a:pPr>
            <a:r>
              <a:t>即梦+剪映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999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Seedance 2.0</a:t>
            </a:r>
            <a:br/>
            <a:r>
              <a:t>视频生成80%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2057400"/>
            <a:ext cx="137160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084831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PingFang SC"/>
              </a:defRPr>
            </a:pPr>
            <a:r>
              <a:t>Trae+Coze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600万开发者</a:t>
            </a:r>
            <a:br/>
            <a:r>
              <a:t>Agent 7×24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2971800"/>
            <a:ext cx="43891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火山引擎MaaS(调用量49.5%) + 企业Agent(ArkClaw/飞书aily)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3611880"/>
            <a:ext cx="438912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日均120万亿Token推理 + Agent 7×24持续运行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4251960"/>
            <a:ext cx="4389120" cy="7315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芯片采购(昇腾+寒武纪+高通ASIC+自研)</a:t>
            </a:r>
            <a:br/>
            <a:r>
              <a:t>AIDC建设(国内1.7GW+泰国250亿+芬兰12亿)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0" y="5120640"/>
            <a:ext cx="438912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更强推理 → 更好AI体验 → 更多用户 → 增长飞轮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5943600"/>
            <a:ext cx="4754880" cy="32004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💡 芯片需求：推理NPU/ASIC(950PR+590+高通+Ada)为主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" y="6400800"/>
            <a:ext cx="11704320" cy="3200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🔴 业务痛点（聚焦芯片销售与推理方案）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PingFang SC"/>
              </a:defRPr>
            </a:pPr>
            <a:r>
              <a:t>AI推理成本爆炸 (🔴极高) → 推理芯片扩容+国产替代  |  英伟达断供 (🔴极高) → 910C+AMD训练GPU替代  |  视频算力不足 (🟡高) → 视频推理专用NPU/ASIC  |  国产芯片产能瓶颈 (🟡高) → 多供应商+高通ASIC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AI高价值场景（聚焦昇腾可服务场景）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ingFang SC"/>
              </a:defRPr>
            </a:pPr>
            <a:r>
              <a:t>按推理芯片需求强度分三梯队 · Agent已提升至P0最高优先级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60120"/>
            <a:ext cx="117043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🔴 第一梯队：推理算力密集型 P0 — 直接拉升NPU/ASIC需求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371600"/>
          <a:ext cx="9144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豆包大模型推理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日均120万亿Token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含Seed-Thinking-v1.5推理模型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NPU 25-35万颗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+ASIC数百万颗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昇腾950PR扩容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高通ASIC部署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 7×24运行 🆙P0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单次请求→持续运行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结构性质变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NPU/ASIC常驻推理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长记忆管理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Agent运行时降本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%SLA 99.95%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Seedance视频生成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市场80%算力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排队拥堵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视频推理专用NPU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单卡效率极致优化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降低单视频成本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Trae AI编程推理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Token半年+700%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多模型聚合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低延迟NPU推理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&lt;200ms 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推理链路优化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多模型热切换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" y="3794760"/>
            <a:ext cx="117043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🟡 第二梯队：训练+推理混合 P1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4206240"/>
          <a:ext cx="91440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算力特征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推荐/广告LLM级训练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千卡MoE·万级序列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昇腾910C ~7万颗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训练集群+CANN工具链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火山引擎MaaS多模型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49.5%调用量·多模型混部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推理NPU+GPU混合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多模型路由+训推一体平台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82880" y="5166360"/>
            <a:ext cx="1170432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🟢 第三梯队：增量推理 P1-P2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5577840"/>
          <a:ext cx="91440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火山引擎汽车AI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日均3000万+次·700万+搭载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端侧+云端NPU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车载推理芯片方案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飞书AI办公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AaaS·赛力斯174场景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中轻量推理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企业AI落地推理方案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8288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PingFang SC"/>
              </a:defRPr>
            </a:pPr>
            <a:r>
              <a:t>💡 Agent从P1升至P0：从"一次问答"到"持续思考+调用工具+长记忆"，推理芯片需从"峰值弹性"升级为"常驻满负荷"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场景对应AI算力需求与芯片供需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ingFang SC"/>
              </a:defRPr>
            </a:pPr>
            <a:r>
              <a:t>从ChatBot到Agent · 上下文暴增 → 推理算力指数级增长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60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PingFang SC"/>
              </a:defRPr>
            </a:pPr>
            <a:r>
              <a:t>📊 业务场景 → 算力需求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325880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914400"/>
                <a:gridCol w="5486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业务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模型/负载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增长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豆包C端推理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Seed-2.0-pro+Thinking-v1.5+全模态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ArkClaw/Coze 7×24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Seedance视频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双分支扩散Transformer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Trae编程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多模型聚合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推荐/广告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OneTrans/HyFormer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训练+推理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MaaS多模型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多模型混部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汽车AI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对话引擎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飞书AI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aily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PingFang SC"/>
              </a:defRPr>
            </a:pPr>
            <a:r>
              <a:t>🔌 推理芯片供需聚焦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325880"/>
          <a:ext cx="51206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097280"/>
                <a:gridCol w="1097280"/>
                <a:gridCol w="91440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供应商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2026规模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缺口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昇腾950PR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25-35万颗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产能预订满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国产主力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寒武纪590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30万颗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排至2027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Q1首盈&gt;10亿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推理ASIC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高通 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数百万颗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填补NPU缺口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彭博5/26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自研推理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10-35万颗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起步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三星6nm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昇腾910C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~7万颗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供应受限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国产训练主力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待确认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替代英伟达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新供应商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82880" y="4114800"/>
            <a:ext cx="11704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📈 推理算力增长的隐形引擎：上下文长度暴增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2651760" cy="91440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千Token级</a:t>
            </a:r>
            <a:br/>
            <a:r>
              <a:t>ChatBot对话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108960" y="5029200"/>
            <a:ext cx="228600" cy="2286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4709160"/>
            <a:ext cx="265176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万Token级</a:t>
            </a:r>
            <a:br/>
            <a:r>
              <a:t>长文档问答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89320" y="5029200"/>
            <a:ext cx="228600" cy="2286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709160"/>
            <a:ext cx="2651760" cy="9144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百万Token级</a:t>
            </a:r>
            <a:br/>
            <a:r>
              <a:t>v13.2.0窗口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69680" y="5029200"/>
            <a:ext cx="228600" cy="2286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4709160"/>
            <a:ext cx="265176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2026+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25h+持续</a:t>
            </a:r>
            <a:br/>
            <a:r>
              <a:t>Seed-lite超长Agent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5806440"/>
            <a:ext cx="11704320" cy="77724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852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PingFang SC"/>
              </a:defRPr>
            </a:pPr>
            <a:r>
              <a:t>⚡ 单次推理KV Cache和计算量随上下文长度呈平方级增长 → 百万Token窗口使推理芯片需求从"弹性峰值"升级为"常驻满负荷"</a:t>
            </a:r>
          </a:p>
          <a:p>
            <a:pPr>
              <a:defRPr sz="1000" b="0">
                <a:solidFill>
                  <a:srgbClr val="1E293B"/>
                </a:solidFill>
                <a:latin typeface="PingFang SC"/>
              </a:defRPr>
            </a:pPr>
            <a:r>
              <a:t>日均120万亿Token × 16倍/年 × Agent 7×24 × 上下文百万Token = 推理芯片缺口是当前最紧迫的AI Infra需求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客户决策链与触达路径 + 洞察摘要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ingFang SC"/>
              </a:defRPr>
            </a:pPr>
            <a:r>
              <a:t>2026年850亿-4777亿AI芯片采购预算 · 中国最大单客户AI芯片销售机会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60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PingFang SC"/>
              </a:defRPr>
            </a:pPr>
            <a:r>
              <a:t>⭐ 决策链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371600"/>
            <a:ext cx="2148840" cy="13716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谭待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火山引擎总裁</a:t>
            </a:r>
            <a:br/>
            <a:r>
              <a:t>★★★★★</a:t>
            </a:r>
            <a:br/>
            <a:r>
              <a:t>芯片采购+AI Infra决策</a:t>
            </a:r>
          </a:p>
        </p:txBody>
      </p:sp>
      <p:sp>
        <p:nvSpPr>
          <p:cNvPr id="8" name="Down Arrow 7"/>
          <p:cNvSpPr/>
          <p:nvPr/>
        </p:nvSpPr>
        <p:spPr>
          <a:xfrm>
            <a:off x="2331720" y="1874519"/>
            <a:ext cx="182880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4600" y="1371600"/>
            <a:ext cx="214884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17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PingFang SC"/>
              </a:defRPr>
            </a:pPr>
            <a:r>
              <a:t>杨震原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火山引擎BU</a:t>
            </a:r>
            <a:br/>
            <a:r>
              <a:t>★★★★</a:t>
            </a:r>
            <a:br/>
            <a:r>
              <a:t>整体战略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663440" y="1874519"/>
            <a:ext cx="182880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371600"/>
            <a:ext cx="214884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417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PingFang SC"/>
              </a:defRPr>
            </a:pPr>
            <a:r>
              <a:t>施云峰/余红斌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芯片团队</a:t>
            </a:r>
            <a:br/>
            <a:r>
              <a:t>★★★★</a:t>
            </a:r>
            <a:br/>
            <a:r>
              <a:t>选型+自研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995160" y="1874519"/>
            <a:ext cx="182880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78040" y="1371600"/>
            <a:ext cx="214884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1417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PingFang SC"/>
              </a:defRPr>
            </a:pPr>
            <a:r>
              <a:t>吴永辉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Seed负责人</a:t>
            </a:r>
            <a:br/>
            <a:r>
              <a:t>★★★★</a:t>
            </a:r>
            <a:br/>
            <a:r>
              <a:t>技术方向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326880" y="1874519"/>
            <a:ext cx="182880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59" y="1371600"/>
            <a:ext cx="2148840" cy="13716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9" y="1417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梁汝波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783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CEO</a:t>
            </a:r>
            <a:br/>
            <a:r>
              <a:t>★★★★★</a:t>
            </a:r>
            <a:br/>
            <a:r>
              <a:t>终批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2880360"/>
            <a:ext cx="11704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触达路径：火山引擎总裁团队 → Seed技术团队 → 芯片团队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35204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PingFang SC"/>
              </a:defRPr>
            </a:pPr>
            <a:r>
              <a:t>💡 洞察摘要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" y="3886200"/>
            <a:ext cx="117043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886200"/>
            <a:ext cx="54864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04487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PingFang SC"/>
              </a:defRPr>
            </a:pPr>
            <a:r>
              <a:t>① 推理算力是最大、最确定的销售机会——没有之一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1422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从ChatBot到Agent的范式跃迁，叠加上下文窗口从千级→百万级Token，单次推理的KV Cache和计算量呈平方级增长。日均120万亿Token × 16倍/年 × Agent 7×24持续运行 → 三重杠杆叠加。昇腾950PR 25-35万颗+寒武纪590 30万颗+高通ASIC数百万颗 = 千亿级推理芯片市场。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" y="4599432"/>
            <a:ext cx="117043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4599432"/>
            <a:ext cx="54864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6177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PingFang SC"/>
              </a:defRPr>
            </a:pPr>
            <a:r>
              <a:t>② ChatBot→Agent + 上下文暴增 = 算力隐形引擎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8554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短对话(千Token)→超长Agent任务(25小时+)→百万Token上下文窗口，每一次范式升级都带来推理算力的指数级增长。Agent不再是"一次问答"，而是"持续思考+调用工具+长记忆"——推理芯片从"峰值弹性"升级为"常驻满负荷"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" y="5312664"/>
            <a:ext cx="117043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5312664"/>
            <a:ext cx="54864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330952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PingFang SC"/>
              </a:defRPr>
            </a:pPr>
            <a:r>
              <a:t>③ AIGC-Agent是推理需求的新引擎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568696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豆包3.45亿MAU + Seed-Thinking 200B MoE推理模型 + 视频生成80%市场 + Agent 7×24——四个场景的推理需求远超传统推荐系统，是未来2-3年推理芯片采购的主力驱动。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" y="6025896"/>
            <a:ext cx="117043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6025896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044183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ingFang SC"/>
              </a:defRPr>
            </a:pPr>
            <a:r>
              <a:t>④ 决策链清晰 · 预算充裕 · 窗口期明确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28192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谭待/杨震原(采购)→施云峰/余红斌(选型)→梁汝波(终批)。2026年850亿-4777亿AI芯片采购预算是中国最大的单客户AI芯片销售机会。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PingFang SC"/>
              </a:defRPr>
            </a:pPr>
            <a:r>
              <a:t>华为"看BA讲TA"方法论 · 察阶段 | v3.1 | 2026-06-01 | 36氪·Bloomberg·Reuters·财联社·IDC·QuestMobile·Sacra·寒武纪财报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