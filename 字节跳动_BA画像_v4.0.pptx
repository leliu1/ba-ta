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 rIns="609584"/>
          <a:lstStyle/>
          <a:p>
            <a:pPr algn="l">
              <a:defRPr sz="2200" b="1">
                <a:solidFill>
                  <a:srgbClr val="C7000B"/>
                </a:solidFill>
                <a:latin typeface="PingFang SC"/>
              </a:defRPr>
            </a:pPr>
            <a:r>
              <a:t>字节跳动 BA 业务架构画像 — 客户画像与商业模式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58368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PingFang SC"/>
              </a:defRPr>
            </a:pPr>
            <a:r>
              <a:t>华为"看BA讲TA"方法论 · 察阶段 | 2026-06-01 v4.0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00584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客户基本画像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280160"/>
          <a:ext cx="548626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878"/>
                <a:gridCol w="3840383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客户名称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字节跳动（ByteDance）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营收规模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2025 ~1,860亿$(Bloomberg) / ~1,983亿$(Sacra)；净利润~500亿$（AI投入致同比↓&gt;70%）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毛利结构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广告55-60% · 电商15-20% · 云+AI 5-10% · 游戏/教育/其他5-10%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1022" y="2286000"/>
            <a:ext cx="2011629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742" y="2331720"/>
            <a:ext cx="19201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3.45亿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42" y="2670048"/>
            <a:ext cx="192018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PingFang SC"/>
              </a:defRPr>
              <a:lnSpc>
                <a:spcPct val="130000"/>
              </a:lnSpc>
            </a:pPr>
            <a:r>
              <a:t>豆包MAU(Q1)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527" y="2286000"/>
            <a:ext cx="2011629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247" y="2331720"/>
            <a:ext cx="19201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120万亿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247" y="2670048"/>
            <a:ext cx="192018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PingFang SC"/>
              </a:defRPr>
              <a:lnSpc>
                <a:spcPct val="130000"/>
              </a:lnSpc>
            </a:pPr>
            <a:r>
              <a:t>日均Token消耗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0032" y="2286000"/>
            <a:ext cx="2011629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5752" y="2331720"/>
            <a:ext cx="19201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$700亿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5752" y="2670048"/>
            <a:ext cx="192018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PingFang SC"/>
              </a:defRPr>
              <a:lnSpc>
                <a:spcPct val="130000"/>
              </a:lnSpc>
            </a:pPr>
            <a:r>
              <a:t>Capex上限(彭博)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4537" y="2286000"/>
            <a:ext cx="2011629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0257" y="2331720"/>
            <a:ext cx="19201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49.5%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0257" y="2670048"/>
            <a:ext cx="192018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PingFang SC"/>
              </a:defRPr>
              <a:lnSpc>
                <a:spcPct val="130000"/>
              </a:lnSpc>
            </a:pPr>
            <a:r>
              <a:t>MaaS调用量份额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9043" y="2286000"/>
            <a:ext cx="2011629" cy="7315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4763" y="2331720"/>
            <a:ext cx="19201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600万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3" y="2670048"/>
            <a:ext cx="192018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PingFang SC"/>
              </a:defRPr>
              <a:lnSpc>
                <a:spcPct val="130000"/>
              </a:lnSpc>
            </a:pPr>
            <a:r>
              <a:t>Trae月活开发者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" y="324612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核心业务矩阵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584" y="3520440"/>
          <a:ext cx="5486261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878"/>
                <a:gridCol w="3840383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产品与规模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内容与社区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抖音(7亿DAU) · TikTok(10亿DAU) · 头条(3亿MAU) · 番茄小说(2.45亿MAU) · 懂车帝 · 红果短剧(3亿MAU)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创作工具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剪映/CapCut(全球TOP1) · 即梦AI(7,994万MAU)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AI应用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豆包(3.45亿MAU) · Trae(600万开发者) · 扣子Coze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企业服务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火山引擎(MaaS 49.5%第一) · 飞书(Q1超预期)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抖音电商(GMV~25%) · TikTok Shop(近千亿$,+70%)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53036" y="324612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地域结构与收入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36" y="3520440"/>
            <a:ext cx="502907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地域结构（36氪2026.04独家）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53036" y="3703320"/>
          <a:ext cx="5029072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52"/>
                <a:gridCol w="1280127"/>
                <a:gridCol w="1097252"/>
                <a:gridCol w="1554441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区域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增速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驱动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国内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~20%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抖音电商增速放缓至25%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~30%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TikTok Shop GMV近千亿$(+70%)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553036" y="4434840"/>
            <a:ext cx="502907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收入结构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53036" y="4617720"/>
          <a:ext cx="502907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52"/>
                <a:gridCol w="914377"/>
                <a:gridCol w="3017444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广告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55-60%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抖音/TikTok/头条信息流，点击率高于行业均值30%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15-20%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抖音电商+TikTok Shop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云+AI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5-10%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火山引擎MaaS 49.5%·豆包付费68-500元/月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5-10%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朝夕光年·大力教育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09584" y="5623560"/>
            <a:ext cx="10972525" cy="5943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60" y="5650992"/>
            <a:ext cx="5029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C端："用AI重新定义信息获取、内容创作和消费体验" — 豆包3.45亿MAU是超级入口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3" y="5650992"/>
            <a:ext cx="5029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B端："企业AI化的核心底座" — 从"卖Token"升级为"卖Agent能力平台"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" y="640080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PingFang SC"/>
              </a:defRPr>
              <a:lnSpc>
                <a:spcPct val="130000"/>
              </a:lnSpc>
            </a:pPr>
            <a:r>
              <a:t>来源：36氪·Bloomberg·Reuters·财联社·IDC·QuestMobile·Sacra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 rIns="609584"/>
          <a:lstStyle/>
          <a:p>
            <a:pPr algn="l">
              <a:defRPr sz="2200" b="1">
                <a:solidFill>
                  <a:srgbClr val="C7000B"/>
                </a:solidFill>
                <a:latin typeface="PingFang SC"/>
              </a:defRPr>
            </a:pPr>
            <a:r>
              <a:t>核心业务流程 — 双轨制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58368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PingFang SC"/>
              </a:defRPr>
            </a:pPr>
            <a:r>
              <a:t>左轨：搜索推荐AI闭环（传统核心）    |    右轨：AIGC-Agent应用闭环（新AI增长极 ⭐主线）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914400"/>
            <a:ext cx="50290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◀ 左轨：搜索推荐AI闭环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60" y="1234440"/>
            <a:ext cx="4663323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抖音/TikTok/头条</a:t>
            </a:r>
            <a:br/>
            <a:r>
              <a:t>用户行为数据</a:t>
            </a:r>
          </a:p>
        </p:txBody>
      </p:sp>
      <p:sp>
        <p:nvSpPr>
          <p:cNvPr id="6" name="Down Arrow 5"/>
          <p:cNvSpPr/>
          <p:nvPr/>
        </p:nvSpPr>
        <p:spPr>
          <a:xfrm>
            <a:off x="2977820" y="1737360"/>
            <a:ext cx="109728" cy="109728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460" y="2011680"/>
            <a:ext cx="4663323" cy="685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LLM级生成式推荐 + 广告电商转化</a:t>
            </a:r>
            <a:br/>
            <a:r>
              <a:t>RankMixer→OneTrans→MixFormer→HyFormer</a:t>
            </a:r>
            <a:br/>
            <a:r>
              <a:t>核心收入引擎（~70%）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77820" y="2697480"/>
            <a:ext cx="109728" cy="109728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2460" y="2788920"/>
            <a:ext cx="4663323" cy="5486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AI基础设施持续投入</a:t>
            </a:r>
            <a:br/>
            <a:r>
              <a:t>更强推荐模型（更长序列·更大参数）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977820" y="3337560"/>
            <a:ext cx="109728" cy="109728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2460" y="3566160"/>
            <a:ext cx="4663323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更好体验 → 更多用户 → 更多数据</a:t>
            </a:r>
            <a:br/>
            <a:r>
              <a:t>→ 封闭增长飞轮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60" y="4754880"/>
            <a:ext cx="4663323" cy="2743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35" y="4773168"/>
            <a:ext cx="438901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芯片需求：训练GPU（昇腾910C + AMD MI系列）为主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36" y="914400"/>
            <a:ext cx="50290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▶ 右轨：AIGC-Agent应用闭环 ⭐主线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27349" y="1234440"/>
            <a:ext cx="1142971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/>
          <a:lstStyle/>
          <a:p>
            <a:pPr algn="ctr">
              <a:defRPr sz="900">
                <a:solidFill>
                  <a:srgbClr val="000000"/>
                </a:solidFill>
                <a:latin typeface="PingFang SC"/>
              </a:defRPr>
            </a:pPr>
            <a:r>
              <a:t>🤖 豆包App</a:t>
            </a:r>
            <a:br/>
            <a:r>
              <a:t>3.45亿MAU</a:t>
            </a:r>
            <a:br/>
            <a:r>
              <a:t>120万亿Token/日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758" y="1234440"/>
            <a:ext cx="1142971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/>
          <a:lstStyle/>
          <a:p>
            <a:pPr algn="ctr">
              <a:defRPr sz="900">
                <a:solidFill>
                  <a:srgbClr val="000000"/>
                </a:solidFill>
                <a:latin typeface="PingFang SC"/>
              </a:defRPr>
            </a:pPr>
            <a:r>
              <a:t>🎬 即梦+剪映</a:t>
            </a:r>
            <a:br/>
            <a:r>
              <a:t>Seedance 2.0</a:t>
            </a:r>
            <a:br/>
            <a:r>
              <a:t>视频生成80%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6167" y="1234440"/>
            <a:ext cx="1142971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/>
          <a:lstStyle/>
          <a:p>
            <a:pPr algn="ctr">
              <a:defRPr sz="900">
                <a:solidFill>
                  <a:srgbClr val="000000"/>
                </a:solidFill>
                <a:latin typeface="PingFang SC"/>
              </a:defRPr>
            </a:pPr>
            <a:r>
              <a:t>💻 Trae+Coze</a:t>
            </a:r>
            <a:br/>
            <a:r>
              <a:t>600万开发者</a:t>
            </a:r>
            <a:br/>
            <a:r>
              <a:t>Agent 7×24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0576" y="1234440"/>
            <a:ext cx="1142971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/>
          <a:lstStyle/>
          <a:p>
            <a:pPr algn="ctr">
              <a:defRPr sz="900">
                <a:solidFill>
                  <a:srgbClr val="000000"/>
                </a:solidFill>
                <a:latin typeface="PingFang SC"/>
              </a:defRPr>
            </a:pPr>
            <a:r>
              <a:t>🧩 火山引擎MaaS</a:t>
            </a:r>
            <a:br/>
            <a:r>
              <a:t>49.5%调用量</a:t>
            </a:r>
            <a:br/>
            <a:r>
              <a:t>700万+汽车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7349" y="2377440"/>
            <a:ext cx="4754761" cy="777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0">
                <a:solidFill>
                  <a:srgbClr val="000000"/>
                </a:solidFill>
                <a:latin typeface="PingFang SC"/>
              </a:defRPr>
            </a:pPr>
            <a:r>
              <a:t>算法策略与模型矩阵</a:t>
            </a:r>
            <a:br/>
            <a:r>
              <a:t>Doubao-Seed-2.0-pro(200B MoE) · Seed-Thinking-v1.5 · lite全模态</a:t>
            </a:r>
            <a:br/>
            <a:r>
              <a:t>Seedance双分支扩散Transformer · vLLM+SGLang推理引擎</a:t>
            </a:r>
            <a:br/>
            <a:r>
              <a:t>火山方舟多模型路由+Agent运行时 · Agent Plan竞品模型货架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27349" y="3291840"/>
            <a:ext cx="4754761" cy="10058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0">
                <a:solidFill>
                  <a:srgbClr val="000000"/>
                </a:solidFill>
                <a:latin typeface="PingFang SC"/>
              </a:defRPr>
            </a:pPr>
            <a:r>
              <a:t>AI芯片与算力供应</a:t>
            </a:r>
            <a:br/>
            <a:r>
              <a:t>推理NPU: 昇腾950PR(25-35万颗)+寒武纪590(30万颗) | 推理ASIC: 高通数百万颗+自研Ada(10-35万颗)</a:t>
            </a:r>
            <a:br/>
            <a:r>
              <a:t>训练GPU: 昇腾910C(~7万颗)+AMD MI系列 | 自研CPU: ARM+RISC-V双路线</a:t>
            </a:r>
            <a:br/>
            <a:r>
              <a:t>AIDC: 国内1.7GW + 泰国$250亿 + 芬兰$12亿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953274" y="4434840"/>
            <a:ext cx="137160" cy="137160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27349" y="4617720"/>
            <a:ext cx="4754761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日均120万亿Token × Agent 7×24持续运行 × 百万Token上下文</a:t>
            </a:r>
            <a:br/>
            <a:r>
              <a:t>→ 推理NPU/ASIC扩容 → 千亿级芯片采购机会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5394960"/>
            <a:ext cx="10972525" cy="502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460" y="5413248"/>
            <a:ext cx="1060677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业务痛点（芯片销售视角）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60" y="5577840"/>
            <a:ext cx="106067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PingFang SC"/>
              </a:defRPr>
              <a:lnSpc>
                <a:spcPct val="130000"/>
              </a:lnSpc>
            </a:pPr>
            <a:r>
              <a:t>推理成本爆炸(日均120万亿Token·16倍/年)  |  英伟达断供(份额~8%)  |  视频算力不足(Seedance排队)  |  国产芯片产能瓶颈(华为满·寒武纪至2027)  |  存储芯片涨价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" y="608076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PingFang SC"/>
              </a:defRPr>
              <a:lnSpc>
                <a:spcPct val="130000"/>
              </a:lnSpc>
            </a:pPr>
            <a:r>
              <a:t>来源：Bloomberg·Reuters·财联社·火山引擎官方·IDC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 rIns="609584"/>
          <a:lstStyle/>
          <a:p>
            <a:pPr algn="l">
              <a:defRPr sz="2200" b="1">
                <a:solidFill>
                  <a:srgbClr val="C7000B"/>
                </a:solidFill>
                <a:latin typeface="PingFang SC"/>
              </a:defRPr>
            </a:pPr>
            <a:r>
              <a:t>AI高价值场景（聚焦昇腾可服务场景）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58368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PingFang SC"/>
              </a:defRPr>
            </a:pPr>
            <a:r>
              <a:t>Agent已提升至P0最高优先级 · 按推理芯片需求强度分三梯队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00584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第一梯队：推理算力密集型  P0 — 直接拉升NPU/ASIC需求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280160"/>
          <a:ext cx="941808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42"/>
                <a:gridCol w="2560255"/>
                <a:gridCol w="2560255"/>
                <a:gridCol w="2011629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豆包大模型推理（含Seed-Thinking-v1.5）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日均120万亿Token · 16倍/年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NPU 25-35万颗 + ASIC数百万颗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昇腾950PR扩容 · 高通ASIC部署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Agent 7×24运行（已升至P0）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单次请求→持续运行 · 结构性质变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NPU/ASIC常驻推理 · 长记忆管理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Agent运行时降本 · SLA 99.95%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Seedance视频生成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占市场80% · 排队拥堵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视频推理专用NPU集群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单卡推理效率极致优化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Trae AI编程推理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Token半年+700% · 多模型聚合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低延迟NPU推理 &lt;200ms 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推理链路优化 · 多模型热切换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584" y="306324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第二梯队：训练+推理混合  P1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584" y="3337560"/>
          <a:ext cx="9418081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42"/>
                <a:gridCol w="2560255"/>
                <a:gridCol w="2560255"/>
                <a:gridCol w="2011629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算力特征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推荐/广告LLM级训练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千卡MoE · 万级序列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昇腾910C ~7万颗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训练集群+CANN工具链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火山引擎MaaS多模型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49.5%调用量 · 多模型混部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推理NPU+GPU混合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多模型路由+训推一体平台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584" y="4251960"/>
            <a:ext cx="109725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第三梯队：增量推理  P1-P2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584" y="4526280"/>
          <a:ext cx="9418081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42"/>
                <a:gridCol w="2560255"/>
                <a:gridCol w="2560255"/>
                <a:gridCol w="2011629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火山引擎汽车AI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日均3,000万+次 · 700万+搭载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端侧+云端混合NPU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车载推理芯片方案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飞书AI办公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AaaS · 赛力斯174场景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中轻量推理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企业AI落地推理方案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584" y="544068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Agent从P1升至P0：从"一次问答"到"持续思考+调用工具+长记忆"，推理芯片需从"峰值弹性"升级为"常驻满负荷"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89788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PingFang SC"/>
              </a:defRPr>
              <a:lnSpc>
                <a:spcPct val="130000"/>
              </a:lnSpc>
            </a:pPr>
            <a:r>
              <a:t>来源：火山引擎官方·IDC·SuperCLUE·QuestMobile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 rIns="609584"/>
          <a:lstStyle/>
          <a:p>
            <a:pPr algn="l">
              <a:defRPr sz="2200" b="1">
                <a:solidFill>
                  <a:srgbClr val="C7000B"/>
                </a:solidFill>
                <a:latin typeface="PingFang SC"/>
              </a:defRPr>
            </a:pPr>
            <a:r>
              <a:t>场景对应AI算力需求与芯片供需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58368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PingFang SC"/>
              </a:defRPr>
            </a:pPr>
            <a:r>
              <a:t>从ChatBot到Agent · 上下文暴增 → 推理算力指数级增长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005840"/>
            <a:ext cx="53033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业务场景 → 算力需求映射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584" y="1234440"/>
          <a:ext cx="585201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29"/>
                <a:gridCol w="2377380"/>
                <a:gridCol w="914377"/>
                <a:gridCol w="548626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业务场景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模型/负载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增长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豆包C端推理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Seed-2.0-pro+Thinking-v1.5+全模态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Agent生态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ArkClaw/Coze 7×24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Seedance视频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双分支扩散Transformer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Trae编程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多模型聚合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推荐/广告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OneTrans/HyFormer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训+推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MaaS多模型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多模型混部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汽车AI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对话引擎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飞书AI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aily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27349" y="1005840"/>
            <a:ext cx="475476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推理芯片供需聚焦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27349" y="1234440"/>
          <a:ext cx="4754757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14"/>
                <a:gridCol w="1005814"/>
                <a:gridCol w="1005814"/>
                <a:gridCol w="1005814"/>
                <a:gridCol w="731501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2026规模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缺口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B5B5B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昇腾950PR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25-35万颗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产能预订满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国产主力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寒武纪590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30万颗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排至2027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Q1首盈&gt;10亿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推理ASIC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高通 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数百万颗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填补NPU缺口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彭博5/26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自研推理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10-35万颗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起步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三星6nm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昇腾910C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~7万颗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供应受限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国产训练主力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待确认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替代英伟达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新供应商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584" y="329184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上下文长度暴增：推理算力的隐形引擎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60" y="3657600"/>
            <a:ext cx="2560255" cy="685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2024</a:t>
            </a:r>
            <a:br/>
            <a:r>
              <a:t>千Token级 · ChatBot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84136" y="3977639"/>
            <a:ext cx="137160" cy="137160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27029" y="3657600"/>
            <a:ext cx="2560255" cy="685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2025</a:t>
            </a:r>
            <a:br/>
            <a:r>
              <a:t>万Token级 · 长文档问答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118705" y="3977639"/>
            <a:ext cx="137160" cy="137160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1598" y="3657600"/>
            <a:ext cx="2560255" cy="685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2026</a:t>
            </a:r>
            <a:br/>
            <a:r>
              <a:t>百万Token级 · v13.2.0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953274" y="3977639"/>
            <a:ext cx="137160" cy="137160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6167" y="3657600"/>
            <a:ext cx="2560255" cy="685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1000" b="1">
                <a:solidFill>
                  <a:srgbClr val="000000"/>
                </a:solidFill>
                <a:latin typeface="PingFang SC"/>
              </a:defRPr>
            </a:pPr>
            <a:r>
              <a:t>2026+</a:t>
            </a:r>
            <a:br/>
            <a:r>
              <a:t>25h+持续 · 超长Agent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572000"/>
            <a:ext cx="10972525" cy="868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897" y="4617720"/>
            <a:ext cx="104238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PingFang SC"/>
              </a:defRPr>
            </a:pPr>
            <a:r>
              <a:t>KV Cache与计算量随上下文长度呈平方级增长 → 百万Token窗口使推理芯片从"峰值弹性"升级为"常驻满负荷"</a:t>
            </a:r>
          </a:p>
          <a:p>
            <a:pPr>
              <a:spcBef>
                <a:spcPts val="1200"/>
              </a:spcBef>
              <a:defRPr sz="1100" b="0">
                <a:solidFill>
                  <a:srgbClr val="000000"/>
                </a:solidFill>
                <a:latin typeface="PingFang SC"/>
              </a:defRPr>
            </a:pPr>
            <a:r>
              <a:t>日均120万亿Token × 16倍/年 × Agent 7×24 × 上下文百万级 = 推理芯片缺口是当前最紧迫的AI Infra需求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" y="562356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PingFang SC"/>
              </a:defRPr>
              <a:lnSpc>
                <a:spcPct val="130000"/>
              </a:lnSpc>
            </a:pPr>
            <a:r>
              <a:t>来源：Bloomberg·Reuters·火山引擎官方·IDC·寒武纪财报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584" rIns="609584"/>
          <a:lstStyle/>
          <a:p>
            <a:pPr algn="l">
              <a:defRPr sz="2200" b="1">
                <a:solidFill>
                  <a:srgbClr val="C7000B"/>
                </a:solidFill>
                <a:latin typeface="PingFang SC"/>
              </a:defRPr>
            </a:pPr>
            <a:r>
              <a:t>客户决策链与洞察摘要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58368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  <a:latin typeface="PingFang SC"/>
              </a:defRPr>
            </a:pPr>
            <a:r>
              <a:t>2026年850亿-4,777亿AI芯片采购预算 · 中国最大单客户AI芯片销售机会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00584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决策链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60" y="1325880"/>
            <a:ext cx="2011629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180" y="1353312"/>
            <a:ext cx="19201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谭待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80" y="1664208"/>
            <a:ext cx="19201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火山引擎总裁</a:t>
            </a:r>
            <a:br/>
            <a:r>
              <a:t>芯片采购+AI Infra</a:t>
            </a:r>
          </a:p>
        </p:txBody>
      </p:sp>
      <p:sp>
        <p:nvSpPr>
          <p:cNvPr id="8" name="Down Arrow 7"/>
          <p:cNvSpPr/>
          <p:nvPr/>
        </p:nvSpPr>
        <p:spPr>
          <a:xfrm>
            <a:off x="2749225" y="1645920"/>
            <a:ext cx="109728" cy="109728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2684" y="1325880"/>
            <a:ext cx="2011629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8404" y="1353312"/>
            <a:ext cx="19201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杨震原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8404" y="1664208"/>
            <a:ext cx="19201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火山引擎BU</a:t>
            </a:r>
            <a:br/>
            <a:r>
              <a:t>整体战略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2908" y="1325880"/>
            <a:ext cx="2011629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8628" y="1353312"/>
            <a:ext cx="19201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施云峰</a:t>
            </a:r>
            <a:br/>
            <a:r>
              <a:t>余红斌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8628" y="1664208"/>
            <a:ext cx="19201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芯片团队</a:t>
            </a:r>
            <a:br/>
            <a:r>
              <a:t>选型+自研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229673" y="1645920"/>
            <a:ext cx="109728" cy="109728"/>
          </a:xfrm>
          <a:prstGeom prst="downArrow">
            <a:avLst/>
          </a:prstGeom>
          <a:solidFill>
            <a:srgbClr val="B5B5B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13132" y="1325880"/>
            <a:ext cx="2011629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8852" y="1353312"/>
            <a:ext cx="19201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吴永辉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8852" y="1664208"/>
            <a:ext cx="19201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Seed负责人</a:t>
            </a:r>
            <a:br/>
            <a:r>
              <a:t>技术方向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3356" y="1325880"/>
            <a:ext cx="2011629" cy="914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99076" y="1353312"/>
            <a:ext cx="19201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梁汝波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9076" y="1664208"/>
            <a:ext cx="19201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CEO</a:t>
            </a:r>
            <a:br/>
            <a:r>
              <a:t>终批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60" y="2331720"/>
            <a:ext cx="1051533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触达路径：火山引擎总裁团队 → Seed技术团队 → 芯片团队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" y="2606040"/>
            <a:ext cx="1097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PingFang SC"/>
              </a:defRPr>
              <a:lnSpc>
                <a:spcPct val="130000"/>
              </a:lnSpc>
            </a:pPr>
            <a:r>
              <a:t>洞察摘要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2971800"/>
            <a:ext cx="10972525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584" y="2971800"/>
            <a:ext cx="36576" cy="6583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897" y="2999232"/>
            <a:ext cx="104238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推理算力是最大、最确定的销售机会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897" y="3246120"/>
            <a:ext cx="104238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PingFang SC"/>
              </a:defRPr>
              <a:lnSpc>
                <a:spcPct val="130000"/>
              </a:lnSpc>
            </a:pPr>
            <a:r>
              <a:t>从ChatBot到Agent的范式跃迁，叠加上下文窗口从千级→百万级Token，KV Cache平方级增长。日均120万亿Token×16倍/年×Agent 7×24→三重杠杆叠加。昇腾950PR+寒武纪590+高通ASIC=千亿级推理芯片市场。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3749039"/>
            <a:ext cx="10972525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584" y="3749039"/>
            <a:ext cx="36576" cy="6583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897" y="3776472"/>
            <a:ext cx="104238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ChatBot→Agent + 上下文暴增 = 算力隐形引擎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897" y="4023359"/>
            <a:ext cx="104238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PingFang SC"/>
              </a:defRPr>
              <a:lnSpc>
                <a:spcPct val="130000"/>
              </a:lnSpc>
            </a:pPr>
            <a:r>
              <a:t>短对话→超长Agent(25h+)→百万Token窗口，每次范式升级带来推理算力指数级增长。推理芯片从"峰值弹性"升级为"常驻满负荷"。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" y="4526280"/>
            <a:ext cx="10972525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84" y="4526280"/>
            <a:ext cx="36576" cy="6583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897" y="4553712"/>
            <a:ext cx="104238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AIGC-Agent是推理需求新引擎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897" y="4800600"/>
            <a:ext cx="104238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PingFang SC"/>
              </a:defRPr>
              <a:lnSpc>
                <a:spcPct val="130000"/>
              </a:lnSpc>
            </a:pPr>
            <a:r>
              <a:t>豆包3.45亿MAU+Seed-Thinking 200B MoE+视频生成80%市场+Agent 7×24→四个场景推理需求远超传统推荐，是未来2-3年推理芯片采购主力驱动。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5303520"/>
            <a:ext cx="10972525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584" y="5303520"/>
            <a:ext cx="36576" cy="6583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3897" y="5330952"/>
            <a:ext cx="104238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PingFang SC"/>
              </a:defRPr>
              <a:lnSpc>
                <a:spcPct val="130000"/>
              </a:lnSpc>
            </a:pPr>
            <a:r>
              <a:t>决策链清晰 · 预算充裕 · 窗口期明确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897" y="5577840"/>
            <a:ext cx="104238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PingFang SC"/>
              </a:defRPr>
              <a:lnSpc>
                <a:spcPct val="130000"/>
              </a:lnSpc>
            </a:pPr>
            <a:r>
              <a:t>谭待/杨震原(采购)→施云峰/余红斌(选型)→梁汝波(终批)。2026年850亿-4,777亿AI芯片采购预算是中国最大的单客户AI芯片销售机会。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84" y="6400800"/>
            <a:ext cx="109725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PingFang SC"/>
              </a:defRPr>
              <a:lnSpc>
                <a:spcPct val="130000"/>
              </a:lnSpc>
            </a:pPr>
            <a:r>
              <a:t>华为"看BA讲TA"方法论 · 察阶段 | v4.0 | 2026-06-01 | 36氪·Bloomberg·Reuters·财联社·IDC·QuestMobile·Sacra·寒武纪财报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