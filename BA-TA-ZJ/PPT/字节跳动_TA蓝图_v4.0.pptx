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/>
          <a:lstStyle/>
          <a:p>
            <a:pPr algn="l">
              <a:defRPr sz="2000" b="1">
                <a:solidFill>
                  <a:srgbClr val="C7000B"/>
                </a:solidFill>
                <a:latin typeface="Microsoft YaHei"/>
              </a:defRPr>
            </a:pPr>
            <a:r>
              <a:t>字节跳动 TA 技术架构方案蓝图 — 现状与需求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566928"/>
            <a:ext cx="1097252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华为"看BA讲TA"方法论 · 定-落阶段 | 2026-06-01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86868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TA 现状评估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097280"/>
          <a:ext cx="109725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690"/>
                <a:gridCol w="5120511"/>
                <a:gridCol w="914377"/>
                <a:gridCol w="3748946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主要问题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GPU/芯片层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英伟达(~8%)+昇腾910C/950PR+寒武纪590(30万颗)+高通ASIC(数百万颗)+Ada(6nm)+CPU(ARM+RISC-V)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3→4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英伟达退场·六线并行过渡·高通5/26入局·CPU路透5/28曝光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训练平台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PyTorch+Megatron+VeOmni(430★)+veRL(2538★)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NPU适配中·MoE场景veRL性能↓32%·Relax竞品提速20%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vLLM(80k★)+SGLang+火山方舟(MaaS 49.5%第一)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★★★★→5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日均120万亿Token·Agent Plan多模型聚合调度复杂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584" y="233172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技术需求分析（BA → TA 映射）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584" y="2560320"/>
          <a:ext cx="731501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31"/>
                <a:gridCol w="3657508"/>
                <a:gridCol w="914377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BA需求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日均120万亿Token推理·16倍/年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推理集群扩容+国产NPU规模化+高通ASIC集成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推荐/广告→LLM级生成式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千卡MoE训练集群·Megatron+VeOmni优化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Trae编程Token半年+700%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低延迟推理(&lt;200ms TTFT)·多模型热切换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英伟达退场→六线并行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CANN适配+寒武纪调优+高通ASIC+多架构调度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Seedance视频远超供给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视频推理专用集群·双分支扩散优化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Agent 7×24运行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Agent编排引擎·状态持久化·长记忆管理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Ada量产+Agent Plan多模型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三星6nm工具链+多模型路由调度+SLA 99.95%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584" y="502920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  <a:lnSpc>
                <a:spcPct val="130000"/>
              </a:lnSpc>
            </a:pPr>
            <a:r>
              <a:t>来源：Bloomberg·Reuters·财联社·火山引擎官方·IDC·寒武纪财报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/>
          <a:lstStyle/>
          <a:p>
            <a:pPr algn="l">
              <a:defRPr sz="2000" b="1">
                <a:solidFill>
                  <a:srgbClr val="C7000B"/>
                </a:solidFill>
                <a:latin typeface="Microsoft YaHei"/>
              </a:defRPr>
            </a:pPr>
            <a:r>
              <a:t>TA 方案蓝图：应用 → Seed-Infrastructure → 芯片供应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566928"/>
            <a:ext cx="1097252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三层架构 · 上层应用驱动中间层训练/推理/Agent · 拉动底层芯片采购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914400"/>
            <a:ext cx="1097252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▲ 应用层（ToC / ToB）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022" y="1417320"/>
            <a:ext cx="2011629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豆包App</a:t>
            </a:r>
            <a:br/>
            <a:r>
              <a:t>3.45亿MAU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527" y="1417320"/>
            <a:ext cx="2011629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Trae</a:t>
            </a:r>
            <a:br/>
            <a:r>
              <a:t>600万Dev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0032" y="1417320"/>
            <a:ext cx="2011629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即梦AI</a:t>
            </a:r>
            <a:br/>
            <a:r>
              <a:t>7994万MAU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4537" y="1417320"/>
            <a:ext cx="2011629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扣子Coze</a:t>
            </a:r>
            <a:br/>
            <a:r>
              <a:t>Agent 2.5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79043" y="1417320"/>
            <a:ext cx="2011629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火山引擎MaaS</a:t>
            </a:r>
            <a:br/>
            <a:r>
              <a:t>49.5% #1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194560"/>
            <a:ext cx="1097252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◆ Seed-Infrastructure 中间层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022" y="2697480"/>
            <a:ext cx="2605974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训练框架</a:t>
            </a:r>
            <a:br/>
            <a:r>
              <a:t>VeOmni(430★)</a:t>
            </a:r>
            <a:br/>
            <a:r>
              <a:t>veRL(2538★)</a:t>
            </a:r>
            <a:br/>
            <a:r>
              <a:t>Megatron-LM</a:t>
            </a:r>
            <a:br/>
            <a:r>
              <a:t>CANN 9.0+高通SDK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872" y="2697480"/>
            <a:ext cx="2605974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推理引擎</a:t>
            </a:r>
            <a:br/>
            <a:r>
              <a:t>vLLM(80k★)</a:t>
            </a:r>
            <a:br/>
            <a:r>
              <a:t>SGLang</a:t>
            </a:r>
            <a:br/>
            <a:r>
              <a:t>火山方舟多模型路由</a:t>
            </a:r>
            <a:br/>
            <a:r>
              <a:t>Agent运行时🆕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3" y="2697480"/>
            <a:ext cx="2605974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Agent运行时</a:t>
            </a:r>
            <a:br/>
            <a:r>
              <a:t>ArkClaw·AgentKit</a:t>
            </a:r>
            <a:br/>
            <a:r>
              <a:t>HiAgent 2.0(降本63%)</a:t>
            </a:r>
            <a:br/>
            <a:r>
              <a:t>Coze引擎</a:t>
            </a:r>
            <a:br/>
            <a:r>
              <a:t>MCP/AAMP协议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573" y="2697480"/>
            <a:ext cx="2605974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AI模型矩阵</a:t>
            </a:r>
            <a:br/>
            <a:r>
              <a:t>Seed-2.0-pro(200B MoE)</a:t>
            </a:r>
            <a:br/>
            <a:r>
              <a:t>Seed-Thinking-v1.5</a:t>
            </a:r>
            <a:br/>
            <a:r>
              <a:t>Seedance 2.0视频</a:t>
            </a:r>
            <a:br/>
            <a:r>
              <a:t>Seedream 5.0图像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977639"/>
            <a:ext cx="1097252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▼ 芯片与算力供应层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22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华为昇腾</a:t>
            </a:r>
            <a:br/>
            <a:r>
              <a:t>910C/950PR</a:t>
            </a:r>
            <a:br/>
            <a:r>
              <a:t>25-35万颗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75495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寒武纪</a:t>
            </a:r>
            <a:br/>
            <a:r>
              <a:t>思元590</a:t>
            </a:r>
            <a:br/>
            <a:r>
              <a:t>30万颗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68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高通AI ASIC🆕</a:t>
            </a:r>
            <a:br/>
            <a:r>
              <a:t>数百万颗</a:t>
            </a:r>
            <a:br/>
            <a:r>
              <a:t>彭博5/26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1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自研Ada</a:t>
            </a:r>
            <a:br/>
            <a:r>
              <a:t>三星6nm</a:t>
            </a:r>
            <a:br/>
            <a:r>
              <a:t>10-35万颗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8915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自研CPU🆕</a:t>
            </a:r>
            <a:br/>
            <a:r>
              <a:t>ARM+RISC-V</a:t>
            </a:r>
            <a:br/>
            <a:r>
              <a:t>早期设计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73388" y="4480560"/>
            <a:ext cx="1691597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800" b="1">
                <a:solidFill>
                  <a:srgbClr val="000000"/>
                </a:solidFill>
                <a:latin typeface="Microsoft YaHei"/>
              </a:defRPr>
            </a:pPr>
            <a:r>
              <a:t>AMD MI系列</a:t>
            </a:r>
            <a:br/>
            <a:r>
              <a:t>训练GPU</a:t>
            </a:r>
            <a:br/>
            <a:r>
              <a:t>替代英伟达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440680"/>
            <a:ext cx="1097252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897" y="5486400"/>
            <a:ext cx="104238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国产化策略：三线(5/27)→六线(6/1)：英伟达(退场)→昇腾+寒武纪→+高通ASIC→+自研Ada→+自研CPU。从"国产替代"升级为"全栈自主可控"。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" y="621792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  <a:lnSpc>
                <a:spcPct val="130000"/>
              </a:lnSpc>
            </a:pPr>
            <a:r>
              <a:t>来源：Bloomberg·Reuters·财联社·火山引擎官方·IDC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/>
          <a:lstStyle/>
          <a:p>
            <a:pPr algn="l">
              <a:defRPr sz="2000" b="1">
                <a:solidFill>
                  <a:srgbClr val="C7000B"/>
                </a:solidFill>
                <a:latin typeface="Microsoft YaHei"/>
              </a:defRPr>
            </a:pPr>
            <a:r>
              <a:t>Seed-Infrastructure 平台方案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566928"/>
            <a:ext cx="1097252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训练平台 · 推理平台 · Agent/应用层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1022" y="868680"/>
            <a:ext cx="3566070" cy="4114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🖥️ 训练平台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60" y="13716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框架：PyTorch+Megatron-LM 4D并行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60" y="196596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自研：VeOmni(多模态·NPU适配)+veRL(吞吐×20)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60" y="256032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调度：veMLP+Ray·可视化DashBoard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460" y="315468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适配：CANN 9.0+寒武纪+高通SDK🆕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60" y="3749039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指标：千卡加速&gt;90%·FP8/BF16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60" y="43434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⚠ MoE场景性能↓32%·Relax竞品提速20%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68" y="868680"/>
            <a:ext cx="3566070" cy="4114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⚡ 推理平台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1406" y="13716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引擎：vLLM(80k★)+SGLang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1406" y="196596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MaaS：火山方舟·多模型智能路由🆕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406" y="256032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视频：Seedance专用·60秒生成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1406" y="315468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适配：950PR+590+高通ASIC🆕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1406" y="3749039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目标：TTFT&lt;200ms·吞吐&gt;1000t/s/卡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1406" y="43434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🆕 ASIC成本≈GPU 1/3·SLA 99.95%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15" y="868680"/>
            <a:ext cx="3566070" cy="4114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🧩 Agent/应用层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0352" y="13716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企业Agent：ArkClaw+AgentKit·独立定价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90352" y="196596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低代码：Coze 2.5 Agent World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0352" y="256032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中台：HiAgent 2.0·降本63%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0352" y="315468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安全：IDC第一·MCP满分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0352" y="3749039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聚合：Agent Plan·竞品模型入货架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0352" y="4343400"/>
            <a:ext cx="338319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内容：火山剧创1.0·周期-80%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" y="525780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芯片/算力层 — 六线全景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584" y="5486400"/>
          <a:ext cx="8686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65"/>
                <a:gridCol w="2285942"/>
                <a:gridCol w="2743131"/>
                <a:gridCol w="2285942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当前芯片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2026-2027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缺口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训练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英伟达存量+910C(~7万)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910C+AMD MI系列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英伟达递减·国产待验证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推理-LLM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950PR(~12-13万)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950PR扩量+590+高通ASIC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昇腾预订满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推理-视频/ASIC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950PR/—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专用GPU+高通数百万+Ada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需求&gt;供给3-5倍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584" y="649224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  <a:lnSpc>
                <a:spcPct val="130000"/>
              </a:lnSpc>
            </a:pPr>
            <a:r>
              <a:t>来源：Bloomberg·Reuters·火山引擎官方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/>
          <a:lstStyle/>
          <a:p>
            <a:pPr algn="l">
              <a:defRPr sz="2000" b="1">
                <a:solidFill>
                  <a:srgbClr val="C7000B"/>
                </a:solidFill>
                <a:latin typeface="Microsoft YaHei"/>
              </a:defRPr>
            </a:pPr>
            <a:r>
              <a:t>AI Infra 方案映射与价值量化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566928"/>
            <a:ext cx="1097252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聚焦推理芯片销售机会 · 六线异构统一管理是新增P0需求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86868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方案映射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097280"/>
          <a:ext cx="960095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19"/>
                <a:gridCol w="3200319"/>
                <a:gridCol w="3200319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规模/背景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方案方向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推理集群扩容+降本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120万亿Token/日·16倍/年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国产推理芯片集群·优化·训推一体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六线异构统一管理 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CPU+GPU+NPU+ASIC+自研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多芯片统一调度·算力编排·混合部署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国产训练芯片适配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~7万颗910C+后续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CANN迁移工具链·国产训练平台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视频推理专用集群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Seedance排队·80%市场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视频推理GPU集群·低延迟引擎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Agent基础设施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7×24运行·商业付费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Agent编排·长记忆·安全管控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高通ASIC集成 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数百万颗部署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SDK适配·推理优化·性能调优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混合芯片统一运维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六线并行·复杂度跃升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多架构统一运维·故障定位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584" y="361188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价值量化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584" y="3840480"/>
          <a:ext cx="9783833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29"/>
                <a:gridCol w="2285942"/>
                <a:gridCol w="1828754"/>
                <a:gridCol w="1828754"/>
                <a:gridCol w="1828754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推理成本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$/百万Token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~0.14(Flash)/~1.74(Pro)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降30-50%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年省数十亿·ASIC→1/3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芯片利用率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六线异构利用率🆕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50-60%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70-80%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+20-30%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训练效率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千卡线性加速比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~85%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周期-10~15%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推理吞吐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Token/s/卡(含ASIC)🆕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基线待测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+50-100%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ASIC有望翻倍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国产芯片占比(含自研)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70-85%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供应链安全↑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584" y="566928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差异化优势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584" y="5897880"/>
          <a:ext cx="685782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5029074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我方优势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vs 英伟达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国产化适配深度·不受出口管制·CPU/GPU/ASIC全栈覆盖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vs 华为昇腾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多芯片异构统一管理·不竞争云业务·中立方案集成商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vs 纯软件/高通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硬件+软件+服务一体化·ASIC中国场景深度优化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/>
          <a:lstStyle/>
          <a:p>
            <a:pPr algn="l">
              <a:defRPr sz="2000" b="1">
                <a:solidFill>
                  <a:srgbClr val="C7000B"/>
                </a:solidFill>
                <a:latin typeface="Microsoft YaHei"/>
              </a:defRPr>
            </a:pPr>
            <a:r>
              <a:t>实施路线图与核心风险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566928"/>
            <a:ext cx="1097252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五阶段演进 · 2026Q3-2029 · 从推理降本到全栈自主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86868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实施路线图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60" y="1143000"/>
            <a:ext cx="2057348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Phase 1</a:t>
            </a:r>
            <a:br/>
            <a:r>
              <a:t>Q3 2026</a:t>
            </a:r>
            <a:br/>
            <a:br/>
            <a:r>
              <a:t>推理降本</a:t>
            </a:r>
            <a:br/>
            <a:r>
              <a:t>高通ASIC试点</a:t>
            </a:r>
            <a:br/>
            <a:r>
              <a:t>TCO降30%+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2684" y="1143000"/>
            <a:ext cx="2057348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Phase 2</a:t>
            </a:r>
            <a:br/>
            <a:r>
              <a:t>Q4 2026</a:t>
            </a:r>
            <a:br/>
            <a:br/>
            <a:r>
              <a:t>训推一体</a:t>
            </a:r>
            <a:br/>
            <a:r>
              <a:t>六线统一调度</a:t>
            </a:r>
            <a:br/>
            <a:r>
              <a:t>训练加速&gt;90%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2908" y="1143000"/>
            <a:ext cx="2057348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Phase 3</a:t>
            </a:r>
            <a:br/>
            <a:r>
              <a:t>Q1 2027</a:t>
            </a:r>
            <a:br/>
            <a:br/>
            <a:r>
              <a:t>视频+Agent</a:t>
            </a:r>
            <a:br/>
            <a:r>
              <a:t>Agent编排上线</a:t>
            </a:r>
            <a:br/>
            <a:r>
              <a:t>SLA 99.95%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13132" y="1143000"/>
            <a:ext cx="2057348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Phase 4</a:t>
            </a:r>
            <a:br/>
            <a:r>
              <a:t>2027 H2</a:t>
            </a:r>
            <a:br/>
            <a:br/>
            <a:r>
              <a:t>Ada量产</a:t>
            </a:r>
            <a:br/>
            <a:r>
              <a:t>CPU流片</a:t>
            </a:r>
            <a:br/>
            <a:r>
              <a:t>国产化70%+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3356" y="1143000"/>
            <a:ext cx="2057348" cy="1143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Phase 5</a:t>
            </a:r>
            <a:br/>
            <a:r>
              <a:t>2028-29</a:t>
            </a:r>
            <a:br/>
            <a:br/>
            <a:r>
              <a:t>CPU量产</a:t>
            </a:r>
            <a:br/>
            <a:r>
              <a:t>全栈自主</a:t>
            </a:r>
            <a:br/>
            <a:r>
              <a:t>芯片主权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51460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核心风险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584" y="2743200"/>
          <a:ext cx="777220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31"/>
                <a:gridCol w="914377"/>
                <a:gridCol w="914377"/>
                <a:gridCol w="3200319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华为昇腾交付延迟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中→高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高通ASIC分单+寒武纪缓冲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六线异构运维爆炸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统一运维平台优先·自动化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美国升级出口管制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国产深绑·RISC-V·海外AIDC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AI商业化不及预期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高分ROI优先·分阶段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自研Ada量产失败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高通代工兜底·不单押三星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高通ASIC单点风险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低中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Ada+寒武纪双冗余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584" y="480060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  <a:lnSpc>
                <a:spcPct val="130000"/>
              </a:lnSpc>
            </a:pPr>
            <a:r>
              <a:t>5/27 → 6/1 关键变化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584" y="5029200"/>
          <a:ext cx="1005814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2743131"/>
                <a:gridCol w="3200319"/>
                <a:gridCol w="2285942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领域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5/27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6/1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Capex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&gt;2,000亿元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上限$700亿(~4,777亿)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投入翻倍·窗口更大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芯片策略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三线并行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六线(+高通ASIC+CPU)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复杂度跃升·统一管理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火山引擎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卖Token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卖Agent平台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方案→Agent平台降本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供应链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华为+寒武纪+存量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+高通数百万ASIC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高通最大变量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584" y="649224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Microsoft YaHei"/>
              </a:defRPr>
              <a:lnSpc>
                <a:spcPct val="130000"/>
              </a:lnSpc>
            </a:pPr>
            <a:r>
              <a:t>华为"看BA讲TA"方法论·定-落阶段 | v4.0 | 2026-06-01 | Bloomberg·Reuters·财联社·火山引擎·IDC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