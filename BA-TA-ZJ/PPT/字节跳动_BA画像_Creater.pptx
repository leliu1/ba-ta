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字节跳动 BA业务架构画像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客户基本画像与商业模式 | 成熟期 + AI转型深水区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1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508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~1900亿$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2025营收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280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371600"/>
            <a:ext cx="1508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~500亿$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8105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净利润(AI投入致下滑&gt;70%)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280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71600"/>
            <a:ext cx="1508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~2000亿¥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105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2026 AI Capex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280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71600"/>
            <a:ext cx="1508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~4777亿¥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8105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内部上限($700亿)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280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371600"/>
            <a:ext cx="1508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3.45亿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18105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豆包MAU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280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371600"/>
            <a:ext cx="1508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120万亿/日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81051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日均Token消耗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3317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▎核心业务矩阵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2651760"/>
          <a:ext cx="6400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920240"/>
                <a:gridCol w="1737360"/>
                <a:gridCol w="17373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核心产品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规模/地位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AI算力关联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内容与社区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抖音 · TikTok · 头条 · 番茄小说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抖音DAU 7亿+ TikTok DAU 10亿+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推荐LLM化，推理↑↑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创作工具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剪映/CapCut · 即梦AI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全球视频编辑TOP1, MAU 7994万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Seedance视频生成80%算力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AI应用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豆包 · Trae · 扣子Coze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豆包MAU 3.45亿 Trae 600万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日均120万亿Token推理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企业服务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火山引擎 · 飞书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MaaS 49.5%中国市场第一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Agent Plan订阅, AaaS底座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抖音电商 · TikTok Shop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TikTok Shop GMV近千亿$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海外AIDC核心驱动力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040880" y="23317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▎收入结构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269748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68312" y="2770632"/>
            <a:ext cx="54864" cy="4480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7432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55-60%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7889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广告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999232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抖音/TikTok信息流，点击率&gt;行业30%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338328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68312" y="3456432"/>
            <a:ext cx="54864" cy="4480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4290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15-20%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4747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电商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685032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抖音电商+TikTok Shop GMV近千亿$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406908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68312" y="4142232"/>
            <a:ext cx="54864" cy="4480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41148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0B981"/>
                </a:solidFill>
                <a:latin typeface="PingFang SC"/>
              </a:defRPr>
              <a:lnSpc>
                <a:spcPct val="120000"/>
              </a:lnSpc>
            </a:pPr>
            <a:r>
              <a:t>5-10%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1605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云+AI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370832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火山引擎MaaS 49.5%第一，豆包付费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4754880"/>
            <a:ext cx="4754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68312" y="4828032"/>
            <a:ext cx="54864" cy="44805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48006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5-10%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游戏/教育/其它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056632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朝夕光年·大力教育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4406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▎地域与价值主张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5760720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0608" y="5788152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国内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0608" y="598932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~70%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98932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增速~20%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18320" y="5760720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28048" y="5788152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海外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598932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~30%(+5pp)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598932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增速~50%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数据来源：36氪 · Bloomberg · Reuters · 火山引擎官方 · IDC · QuestMobile · Sacra · 寒武纪财报 | 基于华为'看BA讲TA'方法论·察阶段 |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关键AI基建供应商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海外芯片供应链 · 国产芯片供应链 · 自研芯片 | 从"英伟达独供"到"高通+AMD+Broadcom"新三角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2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35204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20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🌍 海外芯片供应链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2082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🔴 高通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AI ASIC + 联合制造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数百万颗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推理ASIC主力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20040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5526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AMD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GPU（MI系列）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4904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替代英伟达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训练+推理GPU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43484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970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Broadcom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8231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网络芯片/ASIC 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AIDC网络+IP合作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120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网络基础设施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60720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💡 英伟达份额→~8%，实质退场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1325880"/>
            <a:ext cx="35204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1325880"/>
            <a:ext cx="35204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371600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🇨🇳 国产芯片供应链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196596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202082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华为昇腾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31343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910C+950PR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5146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25-35万颗950PR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7432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训练+推理主力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320040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25526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寒武纪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54787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思元590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74904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30万颗,排至2027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97764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Day-0适配DeepSeek-V4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760720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💡 华为~300-400亿 | 寒武纪Q1首盈&gt;10亿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1325880"/>
            <a:ext cx="35204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1325880"/>
            <a:ext cx="35204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1371600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🔧 自研芯片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196596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202082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Ada/SeedChip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231343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三星6nm推理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25146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目标10-35万颗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27432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2026量产推进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6448" y="320040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25526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自研CPU 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354787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ARM+RISC-V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374904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早期设计阶段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97764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路透5/28曝光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56448" y="4434840"/>
            <a:ext cx="3300984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4489704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高通联合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782312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提供: ASIC设计+制造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49834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规模: 数百万颗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521208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定位: 订单推进中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80" y="5760720"/>
            <a:ext cx="3246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💡 CPU双路线并行，供应链多元化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数据来源：36氪 · Bloomberg · Reuters · 火山引擎官方 · IDC · QuestMobile · Sacra · 寒武纪财报 | 基于华为'看BA讲TA'方法论·察阶段 | 2026-06-01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核心业务流程：双轨制AI价值链路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左轨：搜索推荐AI闭环（传统核心）  |  右轨：AIGC-Agent应用闭环（新增长极⭐主线）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3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53035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3035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 左轨：搜索推荐AI闭环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48463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抖音/TikTok/头条</a:t>
            </a:r>
            <a:br/>
            <a:r>
              <a:t>用户行为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4086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海量行为数据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916936" y="2596896"/>
            <a:ext cx="36576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48463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0779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推荐算法 LLM化</a:t>
            </a:r>
            <a:br/>
            <a:r>
              <a:t>RankMixer→HyFormer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5526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万级序列长度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916936" y="3511296"/>
            <a:ext cx="36576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749040"/>
            <a:ext cx="48463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2219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广告投放+电商转化</a:t>
            </a:r>
            <a:br/>
            <a:r>
              <a:t>核心收入 ~70%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现金流引擎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916936" y="4425696"/>
            <a:ext cx="36576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48463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3659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持续投入</a:t>
            </a:r>
            <a:br/>
            <a:r>
              <a:t>AI基础设施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8406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Capex &gt;2000亿元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916936" y="5340096"/>
            <a:ext cx="36576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577840"/>
            <a:ext cx="484632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更强大推荐模型</a:t>
            </a:r>
            <a:br/>
            <a:r>
              <a:t>更长序列·更大参数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9846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体验升级飞轮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080760"/>
            <a:ext cx="43891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1264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↻ 封闭增长飞轮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⚙ 芯片需求: 训练GPU（昇腾910C+AMD）为主，模型参数向LLM级演进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1325880"/>
            <a:ext cx="5760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1325880"/>
            <a:ext cx="57607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380744"/>
            <a:ext cx="5486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 右轨：AIGC-Agent应用闭环 ⭐ 主线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1920240"/>
            <a:ext cx="30175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1947672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豆包大模型 Seed-2.0-pro/lite 全模态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8823960" y="2423160"/>
            <a:ext cx="36576" cy="13716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3640" y="2697480"/>
            <a:ext cx="1719072" cy="12618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2743200"/>
            <a:ext cx="15727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🤖 豆包App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3136392"/>
            <a:ext cx="1572768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MAU 3.45亿</a:t>
            </a:r>
            <a:br/>
            <a:r>
              <a:t>v13.2 百万Token窗口</a:t>
            </a:r>
            <a:br/>
            <a:r>
              <a:t>买前问豆包电商闭环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0728" y="2697480"/>
            <a:ext cx="1719072" cy="12618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2743200"/>
            <a:ext cx="15727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🎬 即梦+剪映</a:t>
            </a:r>
            <a:br/>
            <a:r>
              <a:t>Seedance 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3136392"/>
            <a:ext cx="1572768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AI短剧日更&gt;1100部</a:t>
            </a:r>
            <a:br/>
            <a:r>
              <a:t>视频生成算力80%</a:t>
            </a:r>
            <a:br/>
            <a:r>
              <a:t>火山剧创1.0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57816" y="2697480"/>
            <a:ext cx="1719072" cy="12618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30968" y="2743200"/>
            <a:ext cx="15727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💻 Trae AI编程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30968" y="3136392"/>
            <a:ext cx="1572768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600万开发者</a:t>
            </a:r>
            <a:br/>
            <a:r>
              <a:t>SOLO模式全流程</a:t>
            </a:r>
            <a:br/>
            <a:r>
              <a:t>Token半年+700%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114800"/>
            <a:ext cx="1719072" cy="12618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4160520"/>
            <a:ext cx="15727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🧩 火山引擎MaaS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4553712"/>
            <a:ext cx="1572768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调用量份额49.5%</a:t>
            </a:r>
            <a:br/>
            <a:r>
              <a:t>Agent Plan多模型</a:t>
            </a:r>
            <a:br/>
            <a:r>
              <a:t>汽车AI 700万+搭载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0728" y="4114800"/>
            <a:ext cx="1719072" cy="12618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80" y="4160520"/>
            <a:ext cx="15727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🏭 企业Agent运营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4553712"/>
            <a:ext cx="1572768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Coze/ArkClaw 7×24</a:t>
            </a:r>
            <a:br/>
            <a:r>
              <a:t>HiAgent降本63%</a:t>
            </a:r>
            <a:br/>
            <a:r>
              <a:t>飞书aily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5577840"/>
            <a:ext cx="50292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56235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日均120万亿Token推理 + Agent 7×24持续运行 → 驱动AI基础设施扩容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61722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⚙ 芯片需求: 推理NPU（昇腾950PR+寒武纪590）+ 定制ASIC（高通）+ 自研（Ada/CPU）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▎业务痛点（聚焦芯片销售视角）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" y="6565392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6574536"/>
            <a:ext cx="19568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🔴 推理成本爆炸: 日均120万亿Token，年增16倍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51760" y="6565392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24912" y="6574536"/>
            <a:ext cx="19568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🔴 英伟达断供→重构: H20停供，存量→~8%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0" y="6565392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6574536"/>
            <a:ext cx="19568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🟡 视频算力不足: Seedance 80%算力，排队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23760" y="6565392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96912" y="6574536"/>
            <a:ext cx="19568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🟡 国产芯片产能瓶颈: 华为满/寒武纪排至2027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6565392"/>
            <a:ext cx="2103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82912" y="6574536"/>
            <a:ext cx="195681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🟡 存储芯片涨价: DRAM 250%+，HBM依赖海外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0"/>
            <a:ext cx="91440" cy="91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AI高价值场景：三梯队矩阵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聚焦昇腾可服务场景 | P0推理密集型 → P1训推混合 → P2增量推理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4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1887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P0 推理密集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直接拉升NPU/ASIC需求 — 最大销售机会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783080"/>
          <a:ext cx="113385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256032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豆包大模型推理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日均120万亿Token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16倍/年增长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NPU 25-35万颗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+ ASIC数百万颗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昇腾950PR推理集群扩容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高通ASIC部署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Agent 7×24运行 🆙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单次请求→持续运行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结构性质变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NPU/ASIC 常驻推理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Agent运行时降本方案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长记忆管理优化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Seedance视频生成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占市场80%算力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排队拥堵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视频推理专用NPU集群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单卡推理效率极致优化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降低单视频成本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Trae AI编程推理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Token半年+700%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多模型聚合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低延迟NPU推理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&lt;200ms TTFT推理链路优化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3337560"/>
            <a:ext cx="11887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36499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P1 训推混合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3794760"/>
          <a:ext cx="113385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3657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推荐/广告LLM级训练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千卡级MoE训练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万级序列长度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训练GPU ~7万颗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昇腾910C训练集群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CANN适配工具链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火山引擎MaaS多模型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49.5%调用量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多模型混部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推理NPU + GPU混合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多模型路由调度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训推一体平台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0040" y="4526280"/>
            <a:ext cx="11887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5537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P1-P2 增量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4983480"/>
          <a:ext cx="113385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3657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火山引擎汽车AI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日均3000万+次座舱交互</a:t>
                      </a:r>
                    </a:p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700万+搭载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端侧+云端混合NPU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车载推理芯片方案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飞书AI办公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AaaS，赛力斯174场景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中轻量推理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企业AI落地推理方案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数据来源：36氪 · Bloomberg · Reuters · 火山引擎官方 · IDC · QuestMobile · Sacra · 寒武纪财报 | 基于华为'看BA讲TA'方法论·察阶段 | 2026-06-01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场景算力需求与芯片供应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上下文长度暴增：千Token → 万Token → 百万Token | 推理芯片缺口是当前最紧迫需求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5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▎业务场景算力需求映射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691640"/>
          <a:ext cx="7955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822960"/>
                <a:gridCol w="210312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业务场景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模型/负载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当前规模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增长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豆包C端推理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Seed-2.0-pro(200B MoE)</a:t>
                      </a:r>
                    </a:p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+Thinking-v1.5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日均120万亿Token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Agent生态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ArkClaw/Coze 7×24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结构性质变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Seedance视频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双分支扩散Transformer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市场80%，排队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Trae编程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多模型聚合推理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Token半年+700%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推荐/广告训练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OneTrans/HyFormer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训练+推理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万级序列LLM级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火山引擎MaaS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多模型混部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1944万亿Token全行业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汽车AI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对话推理引擎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日均3000万+次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飞书AI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aily Agent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赛力斯174场景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132588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▎芯片供需（推理芯片聚焦）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0" y="1691640"/>
          <a:ext cx="3840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97280"/>
                <a:gridCol w="8229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规模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缺口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昇腾950PR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25-35万颗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产能满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寒武纪590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30万颗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排至2027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推理ASIC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高通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数百万颗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填补缺口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自研推理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Ada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10-35万颗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起步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昇腾910C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~7万颗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供应受限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AMD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待确认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  <a:latin typeface="PingFang SC"/>
                        </a:defRPr>
                      </a:pPr>
                      <a:r>
                        <a:t>替代英伟达</a:t>
                      </a:r>
                    </a:p>
                  </a:txBody>
                  <a:tcPr anchor="ctr"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4480560"/>
            <a:ext cx="11521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537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📐 上下文长度暴增：推理算力需求指数级增长的隐形引擎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2286000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22860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974336"/>
            <a:ext cx="2139696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千Token级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76672"/>
            <a:ext cx="21396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传统搜索推荐</a:t>
            </a:r>
            <a:br/>
            <a:r>
              <a:t>短对话理解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650992"/>
            <a:ext cx="21396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算力指数: 基线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17520" y="5376672"/>
            <a:ext cx="11887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5614416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→ 基线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19" y="4937760"/>
            <a:ext cx="2286000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19" y="4937760"/>
            <a:ext cx="22860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1" y="4974336"/>
            <a:ext cx="2139696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万Token级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5376672"/>
            <a:ext cx="21396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长文档分析</a:t>
            </a:r>
            <a:br/>
            <a:r>
              <a:t>多轮Agent任务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5650992"/>
            <a:ext cx="21396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算力指数: 10x增长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66559" y="5376672"/>
            <a:ext cx="1188720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5614416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→ 10x增长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8" y="4937760"/>
            <a:ext cx="2286000" cy="1097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8" y="4937760"/>
            <a:ext cx="22860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0" y="4974336"/>
            <a:ext cx="2139696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百万Token级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0" y="5376672"/>
            <a:ext cx="21396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豆包v13.2.0窗口</a:t>
            </a:r>
            <a:br/>
            <a:r>
              <a:t>25h+持续Agent运行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0" y="5650992"/>
            <a:ext cx="21396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算力指数: 1000x增长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数据来源：36氪 · Bloomberg · Reuters · 火山引擎官方 · IDC · QuestMobile · Sacra · 寒武纪财报 | 基于华为'看BA讲TA'方法论·察阶段 | 2026-06-01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FFFFFF"/>
                </a:solidFill>
                <a:latin typeface="PingFang SC"/>
              </a:defRPr>
              <a:lnSpc>
                <a:spcPct val="120000"/>
              </a:lnSpc>
            </a:pPr>
            <a:r>
              <a:t>客户决策链与洞察摘要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决策链清晰·预算充裕·窗口期明确 | 2026年最大单客户AI芯片销售机会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CA3AF"/>
                </a:solidFill>
                <a:latin typeface="PingFang SC"/>
              </a:defRPr>
              <a:lnSpc>
                <a:spcPct val="120000"/>
              </a:lnSpc>
            </a:pPr>
            <a:r>
              <a:t>6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▎客户决策链与触达路径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4846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谭待  ★★★★★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火山引擎总裁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芯片采购+AI Infra</a:t>
            </a:r>
            <a:br/>
            <a:r>
              <a:t>最终决策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54864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487168"/>
            <a:ext cx="4846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32888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梁汝波  ★★★★★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78608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终批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36976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36976"/>
            <a:ext cx="4846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82696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施云峰/余红斌  ★★★★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387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芯片团队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28416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芯片选型+自研</a:t>
            </a:r>
            <a:br/>
            <a:r>
              <a:t>含CPU路线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86784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986784"/>
            <a:ext cx="4846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32504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吴永辉  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88536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Seed负责人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078224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大模型技术方向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36592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736592"/>
            <a:ext cx="4846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8231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杨震原  ★★★★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38344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火山引擎BU负责人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82803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整体AI战略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触达路径：火山引擎总裁团队 → Seed技术团队 → 芯片团队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1A2E"/>
                </a:solidFill>
                <a:latin typeface="PingFang SC"/>
              </a:defRPr>
              <a:lnSpc>
                <a:spcPct val="120000"/>
              </a:lnSpc>
            </a:pPr>
            <a:r>
              <a:t>▎洞察摘要：4条核心洞察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719072"/>
            <a:ext cx="562356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5080" y="182880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773936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EF4444"/>
                </a:solidFill>
                <a:latin typeface="PingFang SC"/>
              </a:defRPr>
              <a:lnSpc>
                <a:spcPct val="120000"/>
              </a:lnSpc>
            </a:pPr>
            <a:r>
              <a:t>🔥  ① 推理算力是最大最确定的销售机会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103120"/>
            <a:ext cx="5303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从ChatBot到Agent的范式跃迁 + 上下文窗口百万Token → KV Cache平方级增长。日均120万亿Token + 16倍/年 + Agent 7×24 = 千亿级推理芯片市场。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889504"/>
            <a:ext cx="562356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55080" y="299923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94436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F59E0B"/>
                </a:solidFill>
                <a:latin typeface="PingFang SC"/>
              </a:defRPr>
              <a:lnSpc>
                <a:spcPct val="120000"/>
              </a:lnSpc>
            </a:pPr>
            <a:r>
              <a:t>⚡  ② 上下文暴增是算力需求的隐形引擎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273552"/>
            <a:ext cx="5303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千Token→万Token→百万Token，每次范式升级带来推理算力指数级增长。Agent不再是一次问答，而是持续思考+调用工具+长记忆 = 芯片从峰值弹性升级为常驻满负荷。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059936"/>
            <a:ext cx="562356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55080" y="4169664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1148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3B82F6"/>
                </a:solidFill>
                <a:latin typeface="PingFang SC"/>
              </a:defRPr>
              <a:lnSpc>
                <a:spcPct val="120000"/>
              </a:lnSpc>
            </a:pPr>
            <a:r>
              <a:t>🚀  ③ AIGC-Agent是推理需求增长新引擎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443984"/>
            <a:ext cx="5303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豆包3.45亿MAU + Seed-Thinking(200B MoE) + 视频生成80%算力 + Agent 7×24运行 — 四场景需求远超传统推荐系统，未来2-3年推理芯片采购主力驱动。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230368"/>
            <a:ext cx="562356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5080" y="534009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28523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0B981"/>
                </a:solidFill>
                <a:latin typeface="PingFang SC"/>
              </a:defRPr>
              <a:lnSpc>
                <a:spcPct val="120000"/>
              </a:lnSpc>
            </a:pPr>
            <a:r>
              <a:t>💎  ④ 2026年850亿-4777亿$采购预算：中国最大AI芯片销售机会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614416"/>
            <a:ext cx="5303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>
                <a:solidFill>
                  <a:srgbClr val="1F2937"/>
                </a:solidFill>
                <a:latin typeface="PingFang SC"/>
              </a:defRPr>
              <a:lnSpc>
                <a:spcPct val="120000"/>
              </a:lnSpc>
            </a:pPr>
            <a:r>
              <a:t>谭待（采购决策）→ 施云峰/余红斌（选型）→ 梁汝波（终批）— 决策链清晰、预算充裕、窗口期明确。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B7280"/>
                </a:solidFill>
                <a:latin typeface="PingFang SC"/>
              </a:defRPr>
              <a:lnSpc>
                <a:spcPct val="120000"/>
              </a:lnSpc>
            </a:pPr>
            <a:r>
              <a:t>数据来源：36氪 · Bloomberg · Reuters · 火山引擎官方 · IDC · QuestMobile · Sacra · 寒武纪财报 | 基于华为'看BA讲TA'方法论·察阶段 | 2026-06-01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