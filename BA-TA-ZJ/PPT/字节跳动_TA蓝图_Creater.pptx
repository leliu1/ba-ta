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字节跳动 TA 技术架构方案蓝图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697480"/>
            <a:ext cx="39593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PingFang SC"/>
              </a:defRPr>
            </a:pPr>
            <a:r>
              <a:t>华为「看BA讲TA」方法论 · 定-落阶段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PingFang SC"/>
              </a:defRPr>
            </a:pPr>
            <a:r>
              <a:t>2026 年 6 月 1 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PingFang SC"/>
              </a:defRPr>
            </a:pPr>
            <a:r>
              <a:t>关联：BA画像 v3.1 ｜ 数据截止：2026-06-01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火山引擎官方 · IDC · 寒武纪财报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TA 现状评估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字节跳动七大技术维度成熟度 · 2026年6月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887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051560"/>
            <a:ext cx="25603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078992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当前状态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51560"/>
            <a:ext cx="91440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07899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成熟度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051560"/>
            <a:ext cx="310896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078992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主要问题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3502152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078992"/>
            <a:ext cx="34107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最新动态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09928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28216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GPU/芯片层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70992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1728216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英伟达H20(存量~8%)+昇腾910C/950PR+寒武纪590(30万颗)+高通ASIC(数百万颗)+自研Ada(6nm)+自研CPU(ARM+RISC-V)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709928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172821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★★★→4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709928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728216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英伟达退场·六线并行过渡·CPU增加设计验证工作量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709928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728216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🔴 高通5/26入局；CPU路透5/28曝光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368296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386584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训练平台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2368296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2386584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PyTorch + Megatron-LM + VeOmni(430 commits) + veRL(2538 commits)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368296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238658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368296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386584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NPU适配进行中·MoE场景veRL性能下降32%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368296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386584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小红书Relax引擎MoE提速20%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026664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044952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推理平台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3026664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0200" y="304495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vLLM(80k+★) + SGLang + 火山方舟(MaaS 49.5%)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026664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3044952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★★★★→5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3026664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3044952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日均120万亿Token·Agent Plan多模型聚合调度复杂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026664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3044952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方舟升级"多模型路由+Agent运行时"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685032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703320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数据架构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3685032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00200" y="370332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抖音/TikTok/头条海量行为数据+飞书企业数据+火山引擎客户数据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685032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3703320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3685032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3703320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数据孤岛·Agent长记忆管理新挑战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3685032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80" y="3703320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数据智能体服务开始建设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343400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36168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网络/存储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54480" y="4343400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0200" y="4361688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AIDC(泰国250亿+芬兰12亿+国内1.7GW)·液冷&gt;50%·800V高压直流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4343400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0520" y="436168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★★★→4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4343400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4920" y="4361688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泰国刚获批·DRAM/NAND涨价推高成本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4343400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80" y="4361688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东阳光190亿大单验证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001768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5020056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运维/监控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54480" y="500176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0200" y="5020056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veMLP+Ray Dashboard+HistoryServer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0" y="5001768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60520" y="50200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0" y="5001768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74920" y="5020056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六线异构统一运维尚无方案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5001768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83880" y="5020056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多芯片统一运维平台成新增高优需求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660136"/>
            <a:ext cx="1188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5678424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安全/合规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54480" y="5660136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00200" y="5678424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C2PA内容凭证·PDPA数据本地化·AI短剧六大红线·Agent安全IDC第一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0" y="5660136"/>
            <a:ext cx="914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0520" y="567842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★★★→4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0" y="5660136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74920" y="5678424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海外合规成本高·Agent安全新战场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38160" y="5660136"/>
            <a:ext cx="35021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83880" y="5678424"/>
            <a:ext cx="3410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IDC 2026安全评估总分第一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5943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★ 成熟度 1-5 · → 表示方向 | 红色标注为最新变化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技术需求映射 &amp; 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BA需求 → 技术需求 优先级映射 · 全栈六层架构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02920" cy="3566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33272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</a:defRPr>
            </a:pPr>
            <a:r>
              <a:t>优先级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005840"/>
            <a:ext cx="2148840" cy="3566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033272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</a:defRPr>
            </a:pPr>
            <a:r>
              <a:t>BA需求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005840"/>
            <a:ext cx="2331720" cy="3566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033272"/>
            <a:ext cx="2240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</a:defRPr>
            </a:pPr>
            <a:r>
              <a:t>技术需求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005840"/>
            <a:ext cx="457200" cy="3566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033272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</a:defRPr>
            </a:pPr>
            <a:r>
              <a:t>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62456"/>
            <a:ext cx="5029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3807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362456"/>
            <a:ext cx="214884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3807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日均120万亿Token推理·16倍/年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362456"/>
            <a:ext cx="23317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38074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推理集群扩容+国产NPU规模化+高通ASIC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362456"/>
            <a:ext cx="45720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3807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719072"/>
            <a:ext cx="5029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7373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1719072"/>
            <a:ext cx="214884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推荐/广告→LLM级生成式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1719072"/>
            <a:ext cx="23317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17373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千卡MoE训练集群·Megatron+VeOmni优化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1719072"/>
            <a:ext cx="45720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1737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75688"/>
            <a:ext cx="5029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0939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2075688"/>
            <a:ext cx="214884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0939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Trae AI编程Token+700%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2075688"/>
            <a:ext cx="23317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209397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低延迟推理&lt;200ms TTFT·多模型热切换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2075688"/>
            <a:ext cx="45720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20939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32304"/>
            <a:ext cx="5029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2432304"/>
            <a:ext cx="214884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450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英伟达退场→六线芯片并行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2432304"/>
            <a:ext cx="23317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24505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CANN适配+寒武纪调优+高通ASIC+CPU工具链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2432304"/>
            <a:ext cx="45720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24505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788920"/>
            <a:ext cx="5029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28072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2788920"/>
            <a:ext cx="214884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28072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Capex上限$700亿→超大规模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2788920"/>
            <a:ext cx="233172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1800" y="28072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供应链管理平台+多供应商交付协同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2788920"/>
            <a:ext cx="457200" cy="35661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2807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145536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1638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3145536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316382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Seedance视频生成远超供给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3145536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71800" y="316382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视频推理专用集群·双分支扩散优化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3145536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0" y="31638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502152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3502152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3520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Agent 7×24运行(ArkClaw/Coze)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0" y="3502152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71800" y="35204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Agent编排引擎·状态持久化·长记忆管理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57800" y="3502152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0" y="3520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858768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38770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" y="3858768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387705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自研Ada AI芯片量产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3858768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71800" y="387705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三星6nm流片→编译器/驱动/框架适配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57800" y="3858768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03520" y="38770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215384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2336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4215384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42336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自研CPU(ARM+RISC-V)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26080" y="4215384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71800" y="42336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CPU设计工具链·仿真平台·IP验证·晶圆厂对接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7800" y="4215384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03520" y="42336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572000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45902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240" y="4572000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59028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海外AIDC合规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0" y="4572000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71800" y="459028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泰国250亿+芬兰12亿·数据本地化·跨境网络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57800" y="4572000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0" y="45902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928616"/>
            <a:ext cx="5029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49469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" y="4928616"/>
            <a:ext cx="214884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960" y="494690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火山引擎Agent Plan多模型货架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26080" y="4928616"/>
            <a:ext cx="233172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71800" y="494690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多模型路由调度·跨模型Token计量·Agent运行时SLA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57800" y="4928616"/>
            <a:ext cx="457200" cy="35661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303520" y="4946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5285232"/>
            <a:ext cx="502920" cy="35661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5303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🟢 P2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240" y="5285232"/>
            <a:ext cx="2148840" cy="35661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960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存储芯片涨价DRAM 250%+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926080" y="5285232"/>
            <a:ext cx="2331720" cy="35661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71800" y="53035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HBM/DRAM供应链多元化·国产替代评估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57800" y="5285232"/>
            <a:ext cx="457200" cy="35661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0352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577840" y="100584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15000" y="1051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PingFang SC"/>
              </a:defRPr>
            </a:pPr>
            <a:r>
              <a:t>应用层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0" y="1024128"/>
            <a:ext cx="5212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豆包App  Trae  即梦  扣子Coze  飞书AI  火山引擎MaaS</a:t>
            </a:r>
            <a:br/>
            <a:r>
              <a:t>推荐系统  广告  搜索  电商  红果短剧  火山剧创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577840" y="1783080"/>
            <a:ext cx="6400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15000" y="1828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PingFang SC"/>
              </a:defRPr>
            </a:pPr>
            <a:r>
              <a:t>Agent编排层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0" y="1828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ArkClaw  AgentKit  HiAgent 2.0  Coze引擎 ｜ MCP/AAMP协议  智能体安全管理(IDC第一)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577840" y="256032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715000" y="2606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PingFang SC"/>
              </a:defRPr>
            </a:pPr>
            <a:r>
              <a:t>平台层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669280" y="2816352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42432" y="284378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训练平台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42432" y="3017520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VeOmni / veRL</a:t>
            </a:r>
            <a:br/>
            <a:r>
              <a:t>Megatron-LM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726680" y="2816352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99832" y="284378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推理平台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99832" y="3017520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火山方舟</a:t>
            </a:r>
            <a:br/>
            <a:r>
              <a:t>vLLM / SGLang</a:t>
            </a:r>
            <a:br/>
            <a:r>
              <a:t>多模型路由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784080" y="2816352"/>
            <a:ext cx="2011680" cy="9601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857232" y="284378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MLP/MLOps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857232" y="3017520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veMLP</a:t>
            </a:r>
            <a:br/>
            <a:r>
              <a:t>Ray集群</a:t>
            </a:r>
            <a:br/>
            <a:r>
              <a:t>实验管理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577840" y="3977640"/>
            <a:ext cx="6400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15000" y="4023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59E0B"/>
                </a:solidFill>
                <a:latin typeface="PingFang SC"/>
              </a:defRPr>
            </a:pPr>
            <a:r>
              <a:t>基础设施层 — 六线并行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69280" y="4251960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696712" y="4297680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华为昇腾</a:t>
            </a:r>
            <a:br/>
            <a:r>
              <a:t>910C/950PR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684264" y="4251960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11696" y="4297680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寒武纪</a:t>
            </a:r>
            <a:br/>
            <a:r>
              <a:t>思元590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699248" y="4251960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726680" y="4297680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高通ASIC</a:t>
            </a:r>
            <a:br/>
            <a:r>
              <a:t>数百万颗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69280" y="4919472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696712" y="4965192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自研Ada</a:t>
            </a:r>
            <a:br/>
            <a:r>
              <a:t>三星6nm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684264" y="4919472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711696" y="4965192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0B981"/>
                </a:solidFill>
                <a:latin typeface="PingFang SC"/>
              </a:defRPr>
            </a:pPr>
            <a:r>
              <a:t>自研CPU 🆕</a:t>
            </a:r>
            <a:br/>
            <a:r>
              <a:t>ARM+RISC-V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699248" y="4919472"/>
            <a:ext cx="9601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26680" y="4965192"/>
            <a:ext cx="905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EF4444"/>
                </a:solidFill>
                <a:latin typeface="PingFang SC"/>
              </a:defRPr>
            </a:pPr>
            <a:r>
              <a:t>英伟达存量</a:t>
            </a:r>
            <a:br/>
            <a:r>
              <a:t>退场中~8%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0" y="555040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网络：800V高压直流  ·  存储：HBM/DRAM/NAND  ·  液冷&gt;50%</a:t>
            </a:r>
            <a:br/>
            <a:r>
              <a:t>AIDC：国内1.7GW  +  泰国$250亿  +  芬兰$12亿</a:t>
            </a:r>
          </a:p>
        </p:txBody>
      </p:sp>
      <p:sp>
        <p:nvSpPr>
          <p:cNvPr id="143" name="Down Arrow 142"/>
          <p:cNvSpPr/>
          <p:nvPr/>
        </p:nvSpPr>
        <p:spPr>
          <a:xfrm>
            <a:off x="8595360" y="1783080"/>
            <a:ext cx="182880" cy="10972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Down Arrow 143"/>
          <p:cNvSpPr/>
          <p:nvPr/>
        </p:nvSpPr>
        <p:spPr>
          <a:xfrm>
            <a:off x="8595360" y="2560320"/>
            <a:ext cx="182880" cy="10972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own Arrow 144"/>
          <p:cNvSpPr/>
          <p:nvPr/>
        </p:nvSpPr>
        <p:spPr>
          <a:xfrm>
            <a:off x="8595360" y="3749040"/>
            <a:ext cx="182880" cy="10972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芯片 / 算力层方案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六线并行芯片全景图 · 国产化策略演进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020" y="1051560"/>
            <a:ext cx="182168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英伟达存量+昇腾910C</a:t>
            </a:r>
            <a:br/>
            <a:r>
              <a:t>(~7万颗)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910C继续+尝试国产训练芯片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英伟达递减·国产待验证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6988" y="1051560"/>
            <a:ext cx="182168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昇腾950PR</a:t>
            </a:r>
            <a:br/>
            <a:r>
              <a:t>(~12-13万颗)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950PR扩量+寒武纪590</a:t>
            </a:r>
            <a:br/>
            <a:r>
              <a:t>+高通ASIC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昇腾预订满·多芯片调度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推理-视频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956" y="1051560"/>
            <a:ext cx="182168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950PR+英伟达存量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专用GPU集群</a:t>
            </a:r>
            <a:br/>
            <a:r>
              <a:t>+高通ASIC潜力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需求&gt;供给3-5倍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5696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推理-视频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4224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6924" y="1051560"/>
            <a:ext cx="182168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— (新增)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高通数百万颗</a:t>
            </a:r>
            <a:br/>
            <a:r>
              <a:t>+Ada 10-35万颗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ASIC交付6-12月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推理-ASIC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4192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端侧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06892" y="1051560"/>
            <a:ext cx="1821688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高通SoC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PICO头显芯片(自研)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功耗/算力平衡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端侧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24160" y="1051560"/>
            <a:ext cx="184708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0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CPU 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36860" y="1051560"/>
            <a:ext cx="1821688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14356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当前芯片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15819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Intel/AMD采购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2103120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2026-27规划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224028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F2937"/>
                </a:solidFill>
                <a:latin typeface="PingFang SC"/>
              </a:defRPr>
            </a:pPr>
            <a:r>
              <a:t>ARM+RISC-V</a:t>
            </a:r>
            <a:br/>
            <a:r>
              <a:t>自研双路线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80720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缺口/风险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2944367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设计验证+代工产能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112471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CPU 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PingFang SC"/>
              </a:defRPr>
            </a:pPr>
            <a:r>
              <a:t>国产化策略演进路径：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11479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PingFang SC"/>
              </a:defRPr>
            </a:pPr>
            <a:r>
              <a:t>原路线(三线)：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86000" y="4114799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0" y="413308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B7280"/>
                </a:solidFill>
                <a:latin typeface="PingFang SC"/>
              </a:defRPr>
            </a:pPr>
            <a:r>
              <a:t>英伟达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3675888" y="4206239"/>
            <a:ext cx="320040" cy="256032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023360" y="4114799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0" y="413308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B7280"/>
                </a:solidFill>
                <a:latin typeface="PingFang SC"/>
              </a:defRPr>
            </a:pPr>
            <a:r>
              <a:t>昇腾+寒武纪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413248" y="4206239"/>
            <a:ext cx="320040" cy="256032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760720" y="4114799"/>
            <a:ext cx="1371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0720" y="413308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B7280"/>
                </a:solidFill>
                <a:latin typeface="PingFang SC"/>
              </a:defRPr>
            </a:pPr>
            <a:r>
              <a:t>自研Ada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0" y="45719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PingFang SC"/>
              </a:defRPr>
            </a:pPr>
            <a:r>
              <a:t>⬇ 演进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489203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新路线(六线)：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286000" y="489203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04288" y="491032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英伟达(退场)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3813048" y="5010911"/>
            <a:ext cx="91440" cy="20116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794760" y="489203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13048" y="491032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昇腾(训练+推理)</a:t>
            </a:r>
            <a:br/>
            <a:r>
              <a:t>+寒武纪(推理)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5321808" y="5010911"/>
            <a:ext cx="91440" cy="20116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303520" y="489203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21808" y="491032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高通ASIC</a:t>
            </a:r>
            <a:br/>
            <a:r>
              <a:t>(数百万颗)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286000" y="548639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04288" y="550468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自研Ada</a:t>
            </a:r>
            <a:br/>
            <a:r>
              <a:t>(6nm)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3813048" y="5605271"/>
            <a:ext cx="91440" cy="20116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794760" y="548639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13048" y="550468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自研CPU</a:t>
            </a:r>
            <a:br/>
            <a:r>
              <a:t>(ARM+RISC-V)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5321808" y="5605271"/>
            <a:ext cx="91440" cy="20116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303520" y="5486399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21808" y="550468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B82F6"/>
                </a:solidFill>
                <a:latin typeface="PingFang SC"/>
              </a:defRPr>
            </a:pPr>
            <a:r>
              <a:t>外部CPU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PingFang SC"/>
              </a:defRPr>
            </a:pPr>
            <a:r>
              <a:t>💡 关键变化：5/27三线 → 6/1六线(+高通ASIC +CPU +外部CPU) · 复杂度跃升 · 统一管理成为新增核心需求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训练 &amp; 推理 &amp; Agent 平台方案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三大平台关键组件 · 选型 · 指标 ·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5/7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05840"/>
            <a:ext cx="3749039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49039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训练平台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PyTorch+Megatron-LM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0992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4D并行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自研训练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0312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VeOmni (430 commits)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多模态分布式·NPU已适配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RL训练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veRL (2538 commits)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9864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吞吐量提升20倍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9184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集群调度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9184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veMLP + 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9300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一键Ray集群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8620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芯片适配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PingFang SC"/>
              </a:defRPr>
            </a:pPr>
            <a:r>
              <a:t>CANN 9.0.0+寒武纪链+高通SDK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8736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🆕 新增高通ASIC适配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6177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目标指标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782312"/>
            <a:ext cx="3566159" cy="640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千卡训练线性加速&gt;90%</a:t>
            </a:r>
            <a:br/>
            <a:r>
              <a:t>veRL吞吐20倍提升·FP8/BF16全覆盖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51383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F4444"/>
                </a:solidFill>
                <a:latin typeface="PingFang SC"/>
              </a:defRPr>
            </a:pPr>
            <a:r>
              <a:t>关键变化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13832"/>
            <a:ext cx="2971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EF4444"/>
                </a:solidFill>
                <a:latin typeface="PingFang SC"/>
              </a:defRPr>
            </a:pPr>
            <a:r>
              <a:t>⚠️ MoE场景veRL性能下降32%</a:t>
            </a:r>
            <a:br/>
            <a:r>
              <a:t>🆕 高通ASIC适配 · 复杂度翻倍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19" y="1005840"/>
            <a:ext cx="3749039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19" y="1005840"/>
            <a:ext cx="3749039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10515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推理平台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59" y="150876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通用引擎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19" y="150876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PingFang SC"/>
              </a:defRPr>
            </a:pPr>
            <a:r>
              <a:t>vLLM (80k+★)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19" y="170992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PagedAttention·连续批处理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210312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高性能引擎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19" y="210312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PingFang SC"/>
              </a:defRPr>
            </a:pPr>
            <a:r>
              <a:t>SGLang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19" y="230428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RadixAttention·结构化输出优化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269748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自研MaaS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19" y="269748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PingFang SC"/>
              </a:defRPr>
            </a:pPr>
            <a:r>
              <a:t>火山方舟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19" y="289864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多模型路由+Token计费·Agent运行时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59" y="329184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视频推理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19" y="329184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PingFang SC"/>
              </a:defRPr>
            </a:pPr>
            <a:r>
              <a:t>Seedance专用引擎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19" y="349300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双分支扩散Transformer·60秒生成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59" y="388620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芯片适配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19" y="388620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PingFang SC"/>
              </a:defRPr>
            </a:pPr>
            <a:r>
              <a:t>950PR+590+高通ASIC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19" y="408736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🆕 新增高通推理链路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59" y="46177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目标指标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59" y="4782312"/>
            <a:ext cx="3566159" cy="640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399" y="480060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TTFT&lt;200ms</a:t>
            </a:r>
            <a:br/>
            <a:r>
              <a:t>吞吐&gt;1000t/s/卡·MaaS SLA 99.9%</a:t>
            </a:r>
            <a:br/>
            <a:r>
              <a:t>🆕 Agent SLA 99.95% · ASIC成本≈GPU 1/3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59" y="551383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F4444"/>
                </a:solidFill>
                <a:latin typeface="PingFang SC"/>
              </a:defRPr>
            </a:pPr>
            <a:r>
              <a:t>关键变化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19" y="5513832"/>
            <a:ext cx="2971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EF4444"/>
                </a:solidFill>
                <a:latin typeface="PingFang SC"/>
              </a:defRPr>
            </a:pPr>
            <a:r>
              <a:t>🆕 Agent Plan多模型+Agent运行时</a:t>
            </a:r>
            <a:br/>
            <a:r>
              <a:t>🆕 高通推理链路 · 数百万颗部署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18" y="1005840"/>
            <a:ext cx="3749039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18" y="1005840"/>
            <a:ext cx="374903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58" y="10515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Agent应用层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58" y="150876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企业Agent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18" y="150876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PingFang SC"/>
              </a:defRPr>
            </a:pPr>
            <a:r>
              <a:t>ArkClaw+AgentKit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18" y="170992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独立定价·赠品→付费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58" y="210312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低代码Agent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18" y="210312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PingFang SC"/>
              </a:defRPr>
            </a:pPr>
            <a:r>
              <a:t>Coze 2.5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18" y="230428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Agent World·云电脑运行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58" y="269748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Agent中台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18" y="269748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PingFang SC"/>
              </a:defRPr>
            </a:pPr>
            <a:r>
              <a:t>HiAgent 2.0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18" y="289864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AgentDevOps·降本63%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58" y="329184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协议/安全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18" y="329184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PingFang SC"/>
              </a:defRPr>
            </a:pPr>
            <a:r>
              <a:t>MCP+AAMP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18" y="349300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智能体安全管理IDC第一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58" y="3886200"/>
            <a:ext cx="5943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模型聚合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18" y="3886200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PingFang SC"/>
              </a:defRPr>
            </a:pPr>
            <a:r>
              <a:t>Agent Plan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18" y="4087368"/>
            <a:ext cx="2971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竞品模型纳入货架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58" y="4617720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PingFang SC"/>
              </a:defRPr>
            </a:pPr>
            <a:r>
              <a:t>目标指标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58" y="4782312"/>
            <a:ext cx="3566159" cy="640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598" y="480060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Agent SLA 99.95%</a:t>
            </a:r>
            <a:br/>
            <a:r>
              <a:t>ISV渠道生态·埃林哲合作</a:t>
            </a:r>
            <a:br/>
            <a:r>
              <a:t>🆕 安全IDC总分第一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58" y="5513832"/>
            <a:ext cx="640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F4444"/>
                </a:solidFill>
                <a:latin typeface="PingFang SC"/>
              </a:defRPr>
            </a:pPr>
            <a:r>
              <a:t>关键变化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18" y="5513832"/>
            <a:ext cx="2971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EF4444"/>
                </a:solidFill>
                <a:latin typeface="PingFang SC"/>
              </a:defRPr>
            </a:pPr>
            <a:r>
              <a:t>🆕 火山剧创1.0 · 周期缩短80%+</a:t>
            </a:r>
            <a:br/>
            <a:r>
              <a:t>🆕 金融/政务Agent安全关键考量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产品映射 &amp; 价值量化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BA需求 → 方案方向 · 六项核心指标量化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64592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332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BA需求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05840"/>
            <a:ext cx="182880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0332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规模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005840"/>
            <a:ext cx="292608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033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方案方向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005840"/>
            <a:ext cx="420624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033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1005840"/>
            <a:ext cx="68580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7080" y="10332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优先级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16736"/>
            <a:ext cx="164592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3350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推理集群扩容+降本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316736"/>
            <a:ext cx="1828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1335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日均120万亿Token·16倍/年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1316736"/>
            <a:ext cx="292608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13350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国产推理芯片集群·推理优化中间件·训推一体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316736"/>
            <a:ext cx="420624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3350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81360" y="1316736"/>
            <a:ext cx="685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13350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627632"/>
            <a:ext cx="164592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645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六线异构算力统一管理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1627632"/>
            <a:ext cx="1828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CPU+GPU+NPU+ASIC+自研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1627632"/>
            <a:ext cx="292608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1645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多芯片统一调度·算力编排·混合部署优化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627632"/>
            <a:ext cx="420624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81360" y="1627632"/>
            <a:ext cx="685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27080" y="16459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938528"/>
            <a:ext cx="164592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1956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国产训练芯片适配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1938528"/>
            <a:ext cx="1828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19568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~7万颗910C+后续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1938528"/>
            <a:ext cx="292608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19568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CANN迁移工具链·国产训练平台一体化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1938528"/>
            <a:ext cx="420624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19568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81360" y="1938528"/>
            <a:ext cx="685800" cy="310896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27080" y="195681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🔴 P0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249424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Capex采购管理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249424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上限$700亿超大规模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2249424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60" y="2267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供应链管理·多供应商协同·交付排程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249424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2267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81360" y="2249424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27080" y="22677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60320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视频推理专有集群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2560320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5960" y="25786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Seedance排队·80%市场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0" y="2560320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4760" y="2578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视频推理GPU集群·低延迟引擎定制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560320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20840" y="2578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81360" y="2560320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27080" y="25786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2871216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28895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Agent基础设施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2871216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6596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7×24运行·商业付费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40" y="2871216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94760" y="28895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Agent编排·长记忆·状态持久化·安全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2871216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20840" y="2889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81360" y="2871216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27080" y="288950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182112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3200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高通ASIC集成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182112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65960" y="3200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数百万颗部署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40" y="3182112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9476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SDK适配·推理链路优化·性能调优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3182112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084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81360" y="3182112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27080" y="32004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493008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35112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混合芯片统一运维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20240" y="3493008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65960" y="35112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六线并行·运维复杂度大涨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3493008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94760" y="35112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多架构统一运维·故障定位·自动扩缩容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75120" y="3493008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20840" y="3511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881360" y="3493008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27080" y="35112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803904"/>
            <a:ext cx="164592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0040" y="3822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AIDC建设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20240" y="3803904"/>
            <a:ext cx="1828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965960" y="3822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国内1.7GW+·泰国250亿+芬兰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749040" y="3803904"/>
            <a:ext cx="292608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94760" y="38221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液冷方案·800V供电·绿色数据中心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20" y="3803904"/>
            <a:ext cx="420624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4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881360" y="3803904"/>
            <a:ext cx="685800" cy="310896"/>
          </a:xfrm>
          <a:prstGeom prst="rect">
            <a:avLst/>
          </a:prstGeom>
          <a:solidFill>
            <a:srgbClr val="FEFB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927080" y="38221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🟡 P1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4114800"/>
            <a:ext cx="164592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0040" y="4133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自研AI芯片工具链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20240" y="4114800"/>
            <a:ext cx="18288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65960" y="4133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Ada量产10-35万颗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749040" y="4114800"/>
            <a:ext cx="29260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794760" y="4133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编译器/驱动/框架适配·Profiling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75120" y="4114800"/>
            <a:ext cx="42062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20840" y="4133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881360" y="4114800"/>
            <a:ext cx="6858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927080" y="41330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🟢 P2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425696"/>
            <a:ext cx="164592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0040" y="4443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自研CPU设计工具链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4425696"/>
            <a:ext cx="18288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65960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ARM+RISC-V早期设计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749040" y="4425696"/>
            <a:ext cx="29260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794760" y="44439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EDA/仿真验证/IP核/设计服务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75120" y="4425696"/>
            <a:ext cx="42062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720840" y="44439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881360" y="4425696"/>
            <a:ext cx="6858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27080" y="444398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" b="0">
                <a:solidFill>
                  <a:srgbClr val="1F2937"/>
                </a:solidFill>
                <a:latin typeface="PingFang SC"/>
              </a:defRPr>
            </a:pPr>
            <a:r>
              <a:t>🟢 P2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PingFang SC"/>
              </a:defRPr>
            </a:pPr>
            <a:r>
              <a:t>价值量化指标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4320" y="502920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5760" y="50749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推理成本 $/百万Token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5760" y="534924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基线：~0.14(Flash)/~1.74(Pro)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553212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降30-50%·年省数十亿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5760" y="516636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258568" y="502920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350008" y="50749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芯片利用率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350008" y="534924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基线：50-60%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50008" y="553212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目标70-80% · +20-30%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50008" y="516636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42816" y="502920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34256" y="50749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训练效率 千卡加速比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334256" y="534924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基线：~85%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334256" y="553212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B82F6"/>
                </a:solidFill>
                <a:latin typeface="PingFang SC"/>
              </a:defRPr>
            </a:pPr>
            <a:r>
              <a:t>目标&gt;90% · 周期-10~15%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334256" y="516636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74320" y="626364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63093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推理吞吐 Token/s/卡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760" y="658368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基线待测(含ASIC)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676656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目标+50-100% · ASIC翻倍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5760" y="640080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258568" y="626364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50008" y="63093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国产化率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50008" y="658368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基线：~50%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350008" y="676656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目标70-85% · 供应链安全↑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50008" y="640080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242816" y="6263640"/>
            <a:ext cx="18470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334256" y="63093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Agent可用性 SLA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334256" y="658368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B7280"/>
                </a:solidFill>
                <a:latin typeface="PingFang SC"/>
              </a:defRPr>
            </a:pPr>
            <a:r>
              <a:t>新增指标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34256" y="6766560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PingFang SC"/>
              </a:defRPr>
            </a:pPr>
            <a:r>
              <a:t>目标99.95% · 企业级保障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34256" y="640080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ingFang SC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实施路线图 · 风险 · 差异化优势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PingFang SC"/>
              </a:defRPr>
            </a:pPr>
            <a:r>
              <a:t>五阶段横向时间轴 · 七项风险矩阵 · 六条竞争优势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B7280"/>
                </a:solidFill>
                <a:latin typeface="PingFang SC"/>
              </a:defRPr>
            </a:pPr>
            <a:r>
              <a:t>来源：Bloomberg · Reuters · 财联社 · 南华早报 · 火山引擎 · IDC · 寒武纪财报 | 华为"看BA讲TA"方法论·定-落阶段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  <a:latin typeface="PingFang SC"/>
              </a:defRPr>
            </a:pPr>
            <a:r>
              <a:t>7/7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05840"/>
            <a:ext cx="2148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078992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0515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PingFang SC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161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国产推理集群试点</a:t>
            </a:r>
            <a:br/>
            <a:r>
              <a:t>高通ASIC首批部署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74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TCO降30%+</a:t>
            </a:r>
            <a:br/>
            <a:r>
              <a:t>ASIC吞吐达标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23160" y="15087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32888" y="1005840"/>
            <a:ext cx="2148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24328" y="1078992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10515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PingFang SC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12161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1463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训练国产化迁移</a:t>
            </a:r>
            <a:br/>
            <a:r>
              <a:t>六线统一调度MVP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1874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训练加速&gt;90%</a:t>
            </a:r>
            <a:br/>
            <a:r>
              <a:t>多芯片调度可用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681728" y="15087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91456" y="1005840"/>
            <a:ext cx="2148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82896" y="1078992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10515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PingFang SC"/>
              </a:defRPr>
            </a:pPr>
            <a: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12161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Q1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1463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视频推理集群</a:t>
            </a:r>
            <a:br/>
            <a:r>
              <a:t>Agent编排·泰国AIDC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2896" y="1874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B82F6"/>
                </a:solidFill>
                <a:latin typeface="PingFang SC"/>
              </a:defRPr>
            </a:pPr>
            <a:r>
              <a:t>Seedance排队消除</a:t>
            </a:r>
            <a:br/>
            <a:r>
              <a:t>Agent SLA 99.95%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40296" y="15087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50024" y="1005840"/>
            <a:ext cx="2148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41464" y="1078992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1464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4" y="10515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PingFang SC"/>
              </a:defRPr>
            </a:pPr>
            <a: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4" y="12161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2027 H2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1464" y="1463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Ada量产对接</a:t>
            </a:r>
            <a:br/>
            <a:r>
              <a:t>CPU流片验证·国产化70%+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1874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10B981"/>
                </a:solidFill>
                <a:latin typeface="PingFang SC"/>
              </a:defRPr>
            </a:pPr>
            <a:r>
              <a:t>Ada工具链就绪</a:t>
            </a:r>
            <a:br/>
            <a:r>
              <a:t>CPU验证通过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98864" y="1508760"/>
            <a:ext cx="128016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08592" y="1005840"/>
            <a:ext cx="2148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00032" y="1078992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00032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10515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PingFang SC"/>
              </a:defRPr>
            </a:pPr>
            <a:r>
              <a:t>Phase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1216152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PingFang SC"/>
              </a:defRPr>
            </a:pPr>
            <a:r>
              <a:t>2028-2029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1463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PingFang SC"/>
              </a:defRPr>
            </a:pPr>
            <a:r>
              <a:t>CPU量产部署</a:t>
            </a:r>
            <a:br/>
            <a:r>
              <a:t>全栈自主可控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18745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10B981"/>
                </a:solidFill>
                <a:latin typeface="PingFang SC"/>
              </a:defRPr>
            </a:pPr>
            <a:r>
              <a:t>CPU替换外部采购</a:t>
            </a:r>
            <a:br/>
            <a:r>
              <a:t>芯片主权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PingFang SC"/>
              </a:defRPr>
            </a:pPr>
            <a:r>
              <a:t>风险矩阵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34640"/>
            <a:ext cx="18288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286207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风险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2834640"/>
            <a:ext cx="5943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2862072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概率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2834640"/>
            <a:ext cx="5943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2862072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影响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834640"/>
            <a:ext cx="30175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286207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应对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12724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1455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华为昇腾交付延迟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3127248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40" y="314553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中→高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3127248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0" y="314553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3127248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7560" y="3145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高通ASIC分单+寒武纪缓冲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419856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4381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自研Ada量产失败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3419856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34381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97480" y="3419856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34381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3419856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37560" y="3438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高通代工兜底·不单押三星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71246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37307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自研CPU超预算/延期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3712464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48840" y="3730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97480" y="3712464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0" y="3730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91840" y="3712464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37560" y="37307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ARM+RISC-V双路线对冲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005072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0233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美国升级出口管制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03120" y="4005072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48840" y="40233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97480" y="4005072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0" y="40233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1840" y="4005072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37560" y="4023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国产供应链深绑·RISC-V·海外AIDC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297680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43159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六线异构运维爆炸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03120" y="4297680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48840" y="4315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97480" y="4297680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0" y="4315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4297680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37560" y="43159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统一运维平台优先·自动化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59028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46085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AI商业化不及预期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03120" y="4590288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48840" y="460857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97480" y="4590288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0" y="460857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91840" y="4590288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37560" y="46085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高分ROI场景优先·分阶段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882896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4901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高通ASIC单点风险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03120" y="4882896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148840" y="4901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低中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97480" y="4882896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0" y="4901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中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91840" y="4882896"/>
            <a:ext cx="3017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37560" y="49011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Ada+寒武纪双冗余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00800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PingFang SC"/>
              </a:defRPr>
            </a:pPr>
            <a:r>
              <a:t>差异化优势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400800" y="283464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46520" y="28346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vs 英伟达原厂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09560" y="28254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国产化适配深度·供应链自主可控·不受出口管制·全栈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0" y="333756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46520" y="333756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vs 华为昇腾原厂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33284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多芯片异构统一管理·不竞争云业务·中立方案集成商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00800" y="384048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46520" y="384048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vs 纯软件厂商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9560" y="38313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硬件+软件+服务一体化·芯片设计到应用部署全栈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0" y="434340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46520" y="43434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vs 高通原厂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09560" y="43342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ASIC中国场景深度优化·昇腾/寒武纪混合部署经验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400800" y="484632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46520" y="48463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vs EDA/芯片工具商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909560" y="48371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字节CPU项目需AI Infra场景化芯片设计验证方案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0" y="5349240"/>
            <a:ext cx="1463040" cy="164592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46520" y="53492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PingFang SC"/>
              </a:defRPr>
            </a:pPr>
            <a:r>
              <a:t>独特壁垒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09560" y="53400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1F2937"/>
                </a:solidFill>
                <a:latin typeface="PingFang SC"/>
              </a:defRPr>
            </a:pPr>
            <a:r>
              <a:t>字节场景深度理解·训推一体国产替代·六线异构统一管理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4320" y="6126480"/>
            <a:ext cx="5669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74320" y="60807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82880" y="618134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3B82F6"/>
                </a:solidFill>
                <a:latin typeface="PingFang SC"/>
              </a:defRPr>
            </a:pPr>
            <a:r>
              <a:t>P1</a:t>
            </a:r>
          </a:p>
        </p:txBody>
      </p:sp>
      <p:sp>
        <p:nvSpPr>
          <p:cNvPr id="133" name="Oval 132"/>
          <p:cNvSpPr/>
          <p:nvPr/>
        </p:nvSpPr>
        <p:spPr>
          <a:xfrm>
            <a:off x="1325880" y="60807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34440" y="618134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3B82F6"/>
                </a:solidFill>
                <a:latin typeface="PingFang SC"/>
              </a:defRPr>
            </a:pPr>
            <a:r>
              <a:t>P2</a:t>
            </a:r>
          </a:p>
        </p:txBody>
      </p:sp>
      <p:sp>
        <p:nvSpPr>
          <p:cNvPr id="135" name="Oval 134"/>
          <p:cNvSpPr/>
          <p:nvPr/>
        </p:nvSpPr>
        <p:spPr>
          <a:xfrm>
            <a:off x="2377440" y="60807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286000" y="618134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3B82F6"/>
                </a:solidFill>
                <a:latin typeface="PingFang SC"/>
              </a:defRPr>
            </a:pPr>
            <a:r>
              <a:t>P3</a:t>
            </a:r>
          </a:p>
        </p:txBody>
      </p:sp>
      <p:sp>
        <p:nvSpPr>
          <p:cNvPr id="137" name="Oval 136"/>
          <p:cNvSpPr/>
          <p:nvPr/>
        </p:nvSpPr>
        <p:spPr>
          <a:xfrm>
            <a:off x="3429000" y="608076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37560" y="618134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10B981"/>
                </a:solidFill>
                <a:latin typeface="PingFang SC"/>
              </a:defRPr>
            </a:pPr>
            <a:r>
              <a:t>P4</a:t>
            </a:r>
          </a:p>
        </p:txBody>
      </p:sp>
      <p:sp>
        <p:nvSpPr>
          <p:cNvPr id="139" name="Oval 138"/>
          <p:cNvSpPr/>
          <p:nvPr/>
        </p:nvSpPr>
        <p:spPr>
          <a:xfrm>
            <a:off x="4480560" y="608076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389120" y="618134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1">
                <a:solidFill>
                  <a:srgbClr val="10B981"/>
                </a:solidFill>
                <a:latin typeface="PingFang SC"/>
              </a:defRPr>
            </a:pPr>
            <a:r>
              <a:t>P5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