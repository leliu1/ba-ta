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ctr">
              <a:defRPr sz="2000" b="1">
                <a:solidFill>
                  <a:srgbClr val="8B0000"/>
                </a:solidFill>
                <a:latin typeface="PingFang SC"/>
              </a:defRPr>
            </a:pPr>
            <a:r>
              <a:t>🧠 字节跳动 BA 业务架构画像 — 客户画像与商业模式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PingFang SC"/>
              </a:defRPr>
            </a:pPr>
            <a:r>
              <a:t>华为"看BA讲TA"方法论 · 察阶段 | 2026-06-01 v3.2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822960"/>
          <a:ext cx="62179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5303520"/>
              </a:tblGrid>
              <a:tr h="2743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客户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字节跳动（ByteDance）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营收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2025 ~1860亿$(Bloomberg) / ~1983亿$(Sacra)；净利润~500亿$（AI投入致同比↓&gt;70%）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结构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广告55-60% · 电商15-20% · 云+AI 5-10% · 游戏/教育/其他5-10%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阶段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成熟期+AI转型深水区 — 内容平台(AI短剧/漫剧)·AIGC应用(豆包付费)·火山引擎(Agent Plan)三线驱动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65760" y="2011680"/>
            <a:ext cx="1097280" cy="64008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04825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  <a:latin typeface="PingFang SC"/>
              </a:defRPr>
            </a:pPr>
            <a:r>
              <a:t>3.45亿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33172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PingFang SC"/>
              </a:defRPr>
            </a:pPr>
            <a:r>
              <a:t>豆包MAU(Q1)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54480" y="2011680"/>
            <a:ext cx="1097280" cy="64008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204825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  <a:latin typeface="PingFang SC"/>
              </a:defRPr>
            </a:pPr>
            <a:r>
              <a:t>120万亿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33172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PingFang SC"/>
              </a:defRPr>
            </a:pPr>
            <a:r>
              <a:t>日均Token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011680"/>
            <a:ext cx="1097280" cy="64008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204825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  <a:latin typeface="PingFang SC"/>
              </a:defRPr>
            </a:pPr>
            <a:r>
              <a:t>$700亿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33172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PingFang SC"/>
              </a:defRPr>
            </a:pPr>
            <a:r>
              <a:t>Capex上限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31920" y="2011680"/>
            <a:ext cx="1097280" cy="64008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77640" y="204825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  <a:latin typeface="PingFang SC"/>
              </a:defRPr>
            </a:pPr>
            <a:r>
              <a:t>49.5%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40" y="233172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PingFang SC"/>
              </a:defRPr>
            </a:pPr>
            <a:r>
              <a:t>MaaS份额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2011680"/>
            <a:ext cx="1097280" cy="64008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60" y="204825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  <a:latin typeface="PingFang SC"/>
              </a:defRPr>
            </a:pPr>
            <a:r>
              <a:t>600万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33172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PingFang SC"/>
              </a:defRPr>
            </a:pPr>
            <a:r>
              <a:t>Trae开发者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8229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PingFang SC"/>
              </a:defRPr>
            </a:pPr>
            <a:r>
              <a:t>核心业务矩阵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583680" y="1097280"/>
          <a:ext cx="530352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4297680"/>
              </a:tblGrid>
              <a:tr h="274319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类别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产品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内容/社区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抖音(7亿DAU)·TikTok(10亿DAU)·头条(3亿MAU)·番茄小说(2.45亿MAU)·懂车帝(汽车第一)·红果短剧(3亿MAU)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创作工具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剪映/CapCut(全球TOP1)·即梦AI(7994万MAU)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AI应用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豆包(3.45亿MAU)·Trae(600万开发者)·扣子Coze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企业服务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火山引擎(MaaS 49.5%第一)·飞书(Q1超预期)</a:t>
                      </a:r>
                    </a:p>
                  </a:txBody>
                  <a:tcPr/>
                </a:tc>
              </a:tr>
              <a:tr h="274324"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电商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抖音电商(GMV~25%)·TikTok Shop(近千亿$)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6583680" y="28346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PingFang SC"/>
              </a:defRPr>
            </a:pPr>
            <a:r>
              <a:t>地域结构（36氪2026.04独家）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583680" y="3063240"/>
          <a:ext cx="5303520" cy="822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005840"/>
                <a:gridCol w="914400"/>
                <a:gridCol w="2651760"/>
              </a:tblGrid>
              <a:tr h="27431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区域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占比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增速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驱动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国内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~70%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~20%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抖音电商增速放缓至25%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74321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海外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~30%(24年25%)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~50%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TikTok Shop GMV~千亿$(+70%)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365760" y="2926080"/>
            <a:ext cx="5943600" cy="1371600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017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PingFang SC"/>
              </a:defRPr>
            </a:pPr>
            <a:r>
              <a:t>C端价值主张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291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PingFang SC"/>
              </a:defRPr>
            </a:pPr>
            <a:r>
              <a:t>"用AI重新定义信息获取、内容创作和消费体验"</a:t>
            </a:r>
            <a:br/>
            <a:r>
              <a:t>豆包3.45亿MAU是超级入口 | 即梦·剪映·红果形成AIGC创作闭环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4480560"/>
            <a:ext cx="5943600" cy="960120"/>
          </a:xfrm>
          <a:prstGeom prst="roundRect">
            <a:avLst/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5720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PingFang SC"/>
              </a:defRPr>
            </a:pPr>
            <a:r>
              <a:t>B端价值主张（火山引擎）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846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PingFang SC"/>
              </a:defRPr>
            </a:pPr>
            <a:r>
              <a:t>"企业AI化的核心底座" | MaaS调用量49.5%第一 | Agent Plan开创订阅制</a:t>
            </a:r>
            <a:br/>
            <a:r>
              <a:t>已从"卖Token"升级为"卖Agent能力平台"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7947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PingFang SC"/>
              </a:defRPr>
            </a:pPr>
            <a:r>
              <a:t>收入结构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6583680" y="4023360"/>
          <a:ext cx="53035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731520"/>
                <a:gridCol w="3657600"/>
              </a:tblGrid>
              <a:tr h="2743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来源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占比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广告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55-60%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抖音/TikTok/头条信息流，点击率高于行业均值30%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电商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15-20%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抖音电商+TikTok Shop(2025 GMV近千亿$)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云+AI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5-10%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火山引擎MaaS 49.5%·豆包付费68-500元/月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其他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5-10%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朝夕光年·大力教育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74320" y="65379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PingFang SC"/>
              </a:defRPr>
            </a:pPr>
            <a:r>
              <a:t>来源：36氪·Bloomberg·Reuters·财联社·IDC·QuestMobile·Sacra·寒武纪财报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ctr">
              <a:defRPr sz="2000" b="1">
                <a:solidFill>
                  <a:srgbClr val="8B0000"/>
                </a:solidFill>
                <a:latin typeface="PingFang SC"/>
              </a:defRPr>
            </a:pPr>
            <a:r>
              <a:t>核心业务流程 — 双轨制 + 业务痛点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PingFang SC"/>
              </a:defRPr>
            </a:pPr>
            <a:r>
              <a:t>左轨：搜索推荐AI闭环（传统核心）| 右轨：AIGC-Agent应用闭环（新AI增长极⭐主线）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777240"/>
            <a:ext cx="5029200" cy="347472"/>
          </a:xfrm>
          <a:prstGeom prst="roundRect">
            <a:avLst/>
          </a:prstGeom>
          <a:solidFill>
            <a:srgbClr val="647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defRPr sz="1000" b="1">
                <a:solidFill>
                  <a:srgbClr val="FFFFFF"/>
                </a:solidFill>
                <a:latin typeface="PingFang SC"/>
              </a:defRPr>
            </a:pPr>
            <a:r>
              <a:t>◀ 左轨：搜索推荐AI闭环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34440"/>
            <a:ext cx="4663440" cy="5943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defRPr sz="800" b="1">
                <a:solidFill>
                  <a:srgbClr val="FFFFFF"/>
                </a:solidFill>
                <a:latin typeface="PingFang SC"/>
              </a:defRPr>
            </a:pPr>
            <a:r>
              <a:t>抖音/TikTok/头条 用户行为数据</a:t>
            </a:r>
          </a:p>
        </p:txBody>
      </p:sp>
      <p:sp>
        <p:nvSpPr>
          <p:cNvPr id="6" name="Down Arrow 5"/>
          <p:cNvSpPr/>
          <p:nvPr/>
        </p:nvSpPr>
        <p:spPr>
          <a:xfrm>
            <a:off x="2468880" y="1828800"/>
            <a:ext cx="228600" cy="22860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2240280"/>
            <a:ext cx="4663440" cy="68580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defRPr sz="800" b="1">
                <a:solidFill>
                  <a:srgbClr val="FFFFFF"/>
                </a:solidFill>
                <a:latin typeface="PingFang SC"/>
              </a:defRPr>
            </a:pPr>
            <a:r>
              <a:t>LLM级生成式推荐 + 广告精准投放</a:t>
            </a:r>
            <a:br/>
            <a:r>
              <a:t>RankMixer→OneTrans→MixFormer→HyFormer</a:t>
            </a:r>
            <a:br/>
            <a:r>
              <a:t>核心收入~70%</a:t>
            </a:r>
          </a:p>
        </p:txBody>
      </p:sp>
      <p:sp>
        <p:nvSpPr>
          <p:cNvPr id="8" name="Down Arrow 7"/>
          <p:cNvSpPr/>
          <p:nvPr/>
        </p:nvSpPr>
        <p:spPr>
          <a:xfrm>
            <a:off x="2468880" y="2926080"/>
            <a:ext cx="228600" cy="22860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3246120"/>
            <a:ext cx="4663440" cy="5943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defRPr sz="800" b="1">
                <a:solidFill>
                  <a:srgbClr val="FFFFFF"/>
                </a:solidFill>
                <a:latin typeface="PingFang SC"/>
              </a:defRPr>
            </a:pPr>
            <a:r>
              <a:t>AI基础设施持续投入</a:t>
            </a:r>
            <a:br/>
            <a:r>
              <a:t>更强推荐模型（更长序列·更大参数）</a:t>
            </a:r>
          </a:p>
        </p:txBody>
      </p:sp>
      <p:sp>
        <p:nvSpPr>
          <p:cNvPr id="10" name="Down Arrow 9"/>
          <p:cNvSpPr/>
          <p:nvPr/>
        </p:nvSpPr>
        <p:spPr>
          <a:xfrm>
            <a:off x="2468880" y="3840480"/>
            <a:ext cx="228600" cy="22860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4251960"/>
            <a:ext cx="4663440" cy="5943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defRPr sz="800" b="1">
                <a:solidFill>
                  <a:srgbClr val="FFFFFF"/>
                </a:solidFill>
                <a:latin typeface="PingFang SC"/>
              </a:defRPr>
            </a:pPr>
            <a:r>
              <a:t>更好体验 → 更多用户 → 更多数据</a:t>
            </a:r>
            <a:br/>
            <a:r>
              <a:t>→ 封闭飞轮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" y="5394960"/>
            <a:ext cx="5029200" cy="27432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defRPr sz="800" b="1">
                <a:solidFill>
                  <a:srgbClr val="1E293B"/>
                </a:solidFill>
                <a:latin typeface="PingFang SC"/>
              </a:defRPr>
            </a:pPr>
            <a:r>
              <a:t>💡 芯片需求：训练GPU(昇腾910C+AMD)为主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777240"/>
            <a:ext cx="6492240" cy="34747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defRPr sz="1000" b="1">
                <a:solidFill>
                  <a:srgbClr val="FFFFFF"/>
                </a:solidFill>
                <a:latin typeface="PingFang SC"/>
              </a:defRPr>
            </a:pPr>
            <a:r>
              <a:t>▶ 右轨：AIGC-Agent应用闭环 ⭐主线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94960" y="1234440"/>
            <a:ext cx="6492240" cy="274320"/>
          </a:xfrm>
          <a:prstGeom prst="round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defRPr sz="900" b="1">
                <a:solidFill>
                  <a:srgbClr val="FFFFFF"/>
                </a:solidFill>
                <a:latin typeface="PingFang SC"/>
              </a:defRPr>
            </a:pPr>
            <a:r>
              <a:t>📱 业务层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77840" y="1554480"/>
            <a:ext cx="1371600" cy="100584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defRPr sz="800" b="1">
                <a:solidFill>
                  <a:srgbClr val="1E293B"/>
                </a:solidFill>
                <a:latin typeface="PingFang SC"/>
              </a:defRPr>
            </a:pPr>
            <a:r>
              <a:t>🤖 豆包App</a:t>
            </a:r>
            <a:br/>
            <a:r>
              <a:t>3.45亿MAU</a:t>
            </a:r>
            <a:br/>
            <a:r>
              <a:t>120万亿Token/日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1554480"/>
            <a:ext cx="1371600" cy="1005840"/>
          </a:xfrm>
          <a:prstGeom prst="roundRect">
            <a:avLst/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defRPr sz="800" b="1">
                <a:solidFill>
                  <a:srgbClr val="1E293B"/>
                </a:solidFill>
                <a:latin typeface="PingFang SC"/>
              </a:defRPr>
            </a:pPr>
            <a:r>
              <a:t>🎬 即梦+剪映</a:t>
            </a:r>
            <a:br/>
            <a:r>
              <a:t>Seedance 2.0</a:t>
            </a:r>
            <a:br/>
            <a:r>
              <a:t>视频生成80%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95360" y="1554480"/>
            <a:ext cx="1371600" cy="100584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defRPr sz="800" b="1">
                <a:solidFill>
                  <a:srgbClr val="1E293B"/>
                </a:solidFill>
                <a:latin typeface="PingFang SC"/>
              </a:defRPr>
            </a:pPr>
            <a:r>
              <a:t>💻 Trae+Coze</a:t>
            </a:r>
            <a:br/>
            <a:r>
              <a:t>600万开发者</a:t>
            </a:r>
            <a:br/>
            <a:r>
              <a:t>Agent 7×24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04120" y="1554480"/>
            <a:ext cx="1645920" cy="1005840"/>
          </a:xfrm>
          <a:prstGeom prst="roundRect">
            <a:avLst/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defRPr sz="800" b="1">
                <a:solidFill>
                  <a:srgbClr val="1E293B"/>
                </a:solidFill>
                <a:latin typeface="PingFang SC"/>
              </a:defRPr>
            </a:pPr>
            <a:r>
              <a:t>🧩 火山引擎MaaS</a:t>
            </a:r>
            <a:br/>
            <a:r>
              <a:t>49.5%调用量</a:t>
            </a:r>
            <a:br/>
            <a:r>
              <a:t>700万+汽车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94960" y="2697480"/>
            <a:ext cx="6492240" cy="2743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defRPr sz="900" b="1">
                <a:solidFill>
                  <a:srgbClr val="FFFFFF"/>
                </a:solidFill>
                <a:latin typeface="PingFang SC"/>
              </a:defRPr>
            </a:pPr>
            <a:r>
              <a:t>⚙️ 算法策略层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77840" y="3017520"/>
            <a:ext cx="6126480" cy="685800"/>
          </a:xfrm>
          <a:prstGeom prst="round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defRPr sz="700" b="1">
                <a:solidFill>
                  <a:srgbClr val="1E293B"/>
                </a:solidFill>
                <a:latin typeface="PingFang SC"/>
              </a:defRPr>
            </a:pPr>
            <a:r>
              <a:t>Doubao-Seed-2.0-pro(200B MoE) · Seed-Thinking-v1.5推理模型 · lite全模态 | Seedance双分支扩散Transformer</a:t>
            </a:r>
            <a:br/>
            <a:r>
              <a:t>vLLM+SGLang推理引擎 | 火山方舟多模型路由+Agent运行时 | Agent Plan竞品模型货架 · MCP/AAMP协议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94960" y="3840480"/>
            <a:ext cx="6492240" cy="2743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defRPr sz="900" b="1">
                <a:solidFill>
                  <a:srgbClr val="FFFFFF"/>
                </a:solidFill>
                <a:latin typeface="PingFang SC"/>
              </a:defRPr>
            </a:pPr>
            <a:r>
              <a:t>🏗️ AI基建层（Seed Infrastructure）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77840" y="4160520"/>
            <a:ext cx="6126480" cy="822960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defRPr sz="700" b="1">
                <a:solidFill>
                  <a:srgbClr val="1E293B"/>
                </a:solidFill>
                <a:latin typeface="PingFang SC"/>
              </a:defRPr>
            </a:pPr>
            <a:r>
              <a:t>推理NPU: 昇腾950PR(25-35万颗) + 寒武纪590(30万颗) | 推理ASIC: 高通数百万颗 + 自研Ada(10-35万颗)</a:t>
            </a:r>
            <a:br/>
            <a:r>
              <a:t>训练GPU: 昇腾910C(~7万颗) + AMD MI系列 | 自研CPU: ARM+RISC-V双路线</a:t>
            </a:r>
            <a:br/>
            <a:r>
              <a:t>AIDC: 国内1.7GW + 泰国$250亿 + 芬兰$12亿 | 液冷&gt;50% · 800V高压直流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8412480" y="5029200"/>
            <a:ext cx="274320" cy="182880"/>
          </a:xfrm>
          <a:prstGeom prst="down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394960" y="5257800"/>
            <a:ext cx="6492240" cy="4114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defRPr sz="900" b="1">
                <a:solidFill>
                  <a:srgbClr val="FFFFFF"/>
                </a:solidFill>
                <a:latin typeface="PingFang SC"/>
              </a:defRPr>
            </a:pPr>
            <a:r>
              <a:t>日均120万亿Token推理 + Agent 7×24持续 → 推理NPU/ASIC扩容 → 千亿级芯片采购机会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2880" y="5852160"/>
            <a:ext cx="11704320" cy="32004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🔴 核心业务痛点（芯片销售视角）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8978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PingFang SC"/>
              </a:defRPr>
            </a:pPr>
            <a:r>
              <a:t>推理成本爆炸(日均120万亿Token·16倍/年) | 英伟达断供(份额~8%) | 视频算力不足(Seedance排队) | 国产芯片产能瓶颈(华为满·寒武纪至2027) | 存储芯片涨价(DRAM 250%+)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65379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PingFang SC"/>
              </a:defRPr>
            </a:pPr>
            <a:r>
              <a:t>来源：Bloomberg·Reuters·财联社·火山引擎官方·IDC·QuestMobile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ctr">
              <a:defRPr sz="2000" b="1">
                <a:solidFill>
                  <a:srgbClr val="8B0000"/>
                </a:solidFill>
                <a:latin typeface="PingFang SC"/>
              </a:defRPr>
            </a:pPr>
            <a:r>
              <a:t>AI高价值场景（聚焦昇腾可服务场景）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PingFang SC"/>
              </a:defRPr>
            </a:pPr>
            <a:r>
              <a:t>Agent已提升至P0最高优先级 · 按推理芯片需求强度分三梯队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777240"/>
            <a:ext cx="11704320" cy="34747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defRPr sz="1200" b="1">
                <a:solidFill>
                  <a:srgbClr val="FFFFFF"/>
                </a:solidFill>
                <a:latin typeface="PingFang SC"/>
              </a:defRPr>
            </a:pPr>
            <a:r>
              <a:t>🔴 第一梯队：推理算力密集型 — P0 直接拉升NPU/ASIC需求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" y="1188720"/>
          <a:ext cx="9144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560320"/>
                <a:gridCol w="2286000"/>
                <a:gridCol w="2286000"/>
              </a:tblGrid>
              <a:tr h="2743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场景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推理量级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芯片需求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机会点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豆包大模型推理</a:t>
                      </a:r>
                    </a:p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含Seed-Thinking-v1.5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日均120万亿Token·16倍/年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NPU 25-35万颗</a:t>
                      </a:r>
                    </a:p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+ASIC数百万颗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昇腾950PR扩容</a:t>
                      </a:r>
                    </a:p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高通ASIC部署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Agent 7×24运行 🆙P0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单次→持续·结构性质变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NPU/ASIC常驻推理</a:t>
                      </a:r>
                    </a:p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长记忆管理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Agent运行时降本</a:t>
                      </a:r>
                    </a:p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SLA 99.95%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Seedance视频生成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占市场80%·排队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视频推理专用NPU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单卡效率极致优化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Trae AI编程推理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Token半年+700%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低延迟NPU &lt;200ms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推理链路优化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82880" y="3246120"/>
            <a:ext cx="11704320" cy="34747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defRPr sz="1200" b="1">
                <a:solidFill>
                  <a:srgbClr val="FFFFFF"/>
                </a:solidFill>
                <a:latin typeface="PingFang SC"/>
              </a:defRPr>
            </a:pPr>
            <a:r>
              <a:t>🟡 第二梯队：训练+推理混合 — P1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82880" y="3657600"/>
          <a:ext cx="9144000" cy="822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560320"/>
                <a:gridCol w="2286000"/>
                <a:gridCol w="2286000"/>
              </a:tblGrid>
              <a:tr h="274319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场景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算力特征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芯片需求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机会点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推荐/广告LLM级训练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千卡MoE·万级序列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昇腾910C ~7万颗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训练集群+CANN工具链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74321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火山引擎MaaS多模型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49.5%调用量·混部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推理NPU+GPU混合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多模型路由+训推一体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182880" y="4709160"/>
            <a:ext cx="11704320" cy="347472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defRPr sz="1200" b="1">
                <a:solidFill>
                  <a:srgbClr val="FFFFFF"/>
                </a:solidFill>
                <a:latin typeface="PingFang SC"/>
              </a:defRPr>
            </a:pPr>
            <a:r>
              <a:t>🟢 第三梯队：增量推理 — P1-P2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2880" y="5120640"/>
          <a:ext cx="9144000" cy="822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560320"/>
                <a:gridCol w="2286000"/>
                <a:gridCol w="2286000"/>
              </a:tblGrid>
              <a:tr h="274319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场景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推理量级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芯片需求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机会点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火山引擎汽车AI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日均3000万+次</a:t>
                      </a:r>
                    </a:p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700万+搭载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端侧+云端NPU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车载推理芯片方案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74321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飞书AI办公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AaaS·赛力斯174场景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中轻量推理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企业AI落地推理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74320" y="65379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B82F6"/>
                </a:solidFill>
                <a:latin typeface="PingFang SC"/>
              </a:defRPr>
            </a:pPr>
            <a:r>
              <a:t>💡 Agent从P1升至P0："一次问答"→"持续思考+调用工具+长记忆"，推理芯片从"峰值弹性"升级为"常驻满负荷"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ctr">
              <a:defRPr sz="2000" b="1">
                <a:solidFill>
                  <a:srgbClr val="8B0000"/>
                </a:solidFill>
                <a:latin typeface="PingFang SC"/>
              </a:defRPr>
            </a:pPr>
            <a:r>
              <a:t>场景对应AI算力需求与芯片供需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PingFang SC"/>
              </a:defRPr>
            </a:pPr>
            <a:r>
              <a:t>从ChatBot到Agent · 上下文暴增 → 推理算力指数级增长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7772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PingFang SC"/>
              </a:defRPr>
            </a:pPr>
            <a:r>
              <a:t>📊 业务场景 → 算力需求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" y="1051560"/>
          <a:ext cx="5577840" cy="24688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560320"/>
                <a:gridCol w="822960"/>
                <a:gridCol w="548640"/>
              </a:tblGrid>
              <a:tr h="274319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业务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模型/负载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类型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增长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豆包C端推理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Seed-2.0-pro+Thinking-v1.5+全模态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推理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↑↑↑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Agent生态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ArkClaw/Coze 7×24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推理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↑↑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Seedance视频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双分支扩散Transformer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推理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↑↑↑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Trae编程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多模型聚合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推理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↑↑↑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推荐/广告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OneTrans/HyFormer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训练+推理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↑↑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MaaS多模型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多模型混部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推理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↑↑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汽车AI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对话引擎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推理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↑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74327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飞书AI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aily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推理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↑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0" y="777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PingFang SC"/>
              </a:defRPr>
            </a:pPr>
            <a:r>
              <a:t>🔌 推理芯片供需聚焦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0" y="1051560"/>
          <a:ext cx="45720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005840"/>
                <a:gridCol w="1005840"/>
                <a:gridCol w="914400"/>
                <a:gridCol w="822960"/>
              </a:tblGrid>
              <a:tr h="2743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类型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供应商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2026规模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缺口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PingFang SC"/>
                        </a:defRPr>
                      </a:pPr>
                      <a:r>
                        <a:t>备注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推理NPU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昇腾950PR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25-35万颗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产能预订满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国产主力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推理NPU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寒武纪590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30万颗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排至2027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Q1首盈&gt;10亿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推理ASIC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高通🆕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数百万颗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填补NPU缺口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彭博5/26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自研推理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10-35万颗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起步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三星6nm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训练GPU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昇腾910C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~7万颗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供应受限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国产训练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训练GPU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AMD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待确认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替代英伟达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E293B"/>
                          </a:solidFill>
                          <a:latin typeface="PingFang SC"/>
                        </a:defRPr>
                      </a:pPr>
                      <a:r>
                        <a:t>新供应商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182880" y="3657600"/>
            <a:ext cx="1170432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defRPr sz="1300" b="1">
                <a:solidFill>
                  <a:srgbClr val="FFFFFF"/>
                </a:solidFill>
                <a:latin typeface="PingFang SC"/>
              </a:defRPr>
            </a:pPr>
            <a:r>
              <a:t>📈 推理算力隐形引擎：上下文长度暴增 → KV Cache平方级增长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4206240"/>
            <a:ext cx="2651760" cy="914400"/>
          </a:xfrm>
          <a:prstGeom prst="round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defRPr sz="1000" b="1">
                <a:solidFill>
                  <a:srgbClr val="FFFFFF"/>
                </a:solidFill>
                <a:latin typeface="PingFang SC"/>
              </a:defRPr>
            </a:pPr>
            <a:r>
              <a:t>2024</a:t>
            </a:r>
            <a:br/>
            <a:r>
              <a:t>千Token级</a:t>
            </a:r>
            <a:br/>
            <a:r>
              <a:t>ChatBot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17520" y="4526280"/>
            <a:ext cx="182880" cy="18288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46120" y="4206240"/>
            <a:ext cx="2651760" cy="9144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defRPr sz="1000" b="1">
                <a:solidFill>
                  <a:srgbClr val="FFFFFF"/>
                </a:solidFill>
                <a:latin typeface="PingFang SC"/>
              </a:defRPr>
            </a:pPr>
            <a:r>
              <a:t>2025</a:t>
            </a:r>
            <a:br/>
            <a:r>
              <a:t>万Token级</a:t>
            </a:r>
            <a:br/>
            <a:r>
              <a:t>长文档问答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97879" y="4526280"/>
            <a:ext cx="182880" cy="18288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26480" y="4206240"/>
            <a:ext cx="2651760" cy="9144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defRPr sz="1000" b="1">
                <a:solidFill>
                  <a:srgbClr val="FFFFFF"/>
                </a:solidFill>
                <a:latin typeface="PingFang SC"/>
              </a:defRPr>
            </a:pPr>
            <a:r>
              <a:t>2026</a:t>
            </a:r>
            <a:br/>
            <a:r>
              <a:t>百万Token级</a:t>
            </a:r>
            <a:br/>
            <a:r>
              <a:t>v13.2.0窗口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778240" y="4526280"/>
            <a:ext cx="182880" cy="18288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006840" y="4206240"/>
            <a:ext cx="2651760" cy="9144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defRPr sz="1000" b="1">
                <a:solidFill>
                  <a:srgbClr val="FFFFFF"/>
                </a:solidFill>
                <a:latin typeface="PingFang SC"/>
              </a:defRPr>
            </a:pPr>
            <a:r>
              <a:t>2026+</a:t>
            </a:r>
            <a:br/>
            <a:r>
              <a:t>25h+持续</a:t>
            </a:r>
            <a:br/>
            <a:r>
              <a:t>Seed-lite超长Agent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" y="5349240"/>
            <a:ext cx="11704320" cy="822960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53949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PingFang SC"/>
              </a:defRPr>
            </a:pPr>
            <a:r>
              <a:t>⚡ 百万Token上下文使KV Cache和计算量呈平方级增长 → 推理芯片从"峰值弹性"升级为"常驻满负荷"</a:t>
            </a:r>
            <a:br/>
            <a:r>
              <a:t>日均120万亿Token × 16倍/年 × Agent 7×24 × 上下文百万级 = 推理芯片缺口是当前最紧迫的AI Infra需求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65379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PingFang SC"/>
              </a:defRPr>
            </a:pPr>
            <a:r>
              <a:t>来源：Bloomberg·Reuters·火山引擎官方·IDC·寒武纪财报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ctr">
              <a:defRPr sz="2000" b="1">
                <a:solidFill>
                  <a:srgbClr val="8B0000"/>
                </a:solidFill>
                <a:latin typeface="PingFang SC"/>
              </a:defRPr>
            </a:pPr>
            <a:r>
              <a:t>客户决策链与触达路径 + 洞察摘要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PingFang SC"/>
              </a:defRPr>
            </a:pPr>
            <a:r>
              <a:t>2026年850亿-4777亿AI芯片采购预算 · 中国最大单客户AI芯片销售机会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PingFang SC"/>
              </a:defRPr>
            </a:pPr>
            <a:r>
              <a:t>⭐ 决策链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1097280"/>
            <a:ext cx="2148840" cy="118872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14300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B82F6"/>
                </a:solidFill>
                <a:latin typeface="PingFang SC"/>
              </a:defRPr>
            </a:pPr>
            <a:r>
              <a:t>谭待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463040"/>
            <a:ext cx="2057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PingFang SC"/>
              </a:defRPr>
            </a:pPr>
            <a:r>
              <a:t>火山引擎总裁</a:t>
            </a:r>
            <a:br/>
            <a:r>
              <a:t>★★★★★</a:t>
            </a:r>
            <a:br/>
            <a:r>
              <a:t>芯片采购+AI Infra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331720" y="1554480"/>
            <a:ext cx="164592" cy="164592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514600" y="1097280"/>
            <a:ext cx="2148840" cy="11887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114300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0A5FA"/>
                </a:solidFill>
                <a:latin typeface="PingFang SC"/>
              </a:defRPr>
            </a:pPr>
            <a:r>
              <a:t>杨震原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463040"/>
            <a:ext cx="2057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PingFang SC"/>
              </a:defRPr>
            </a:pPr>
            <a:r>
              <a:t>火山引擎BU</a:t>
            </a:r>
            <a:br/>
            <a:r>
              <a:t>★★★★</a:t>
            </a:r>
            <a:br/>
            <a:r>
              <a:t>整体战略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663440" y="1554480"/>
            <a:ext cx="164592" cy="164592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846320" y="1097280"/>
            <a:ext cx="2148840" cy="11887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114300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0A5FA"/>
                </a:solidFill>
                <a:latin typeface="PingFang SC"/>
              </a:defRPr>
            </a:pPr>
            <a:r>
              <a:t>施云峰/余红斌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1463040"/>
            <a:ext cx="2057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PingFang SC"/>
              </a:defRPr>
            </a:pPr>
            <a:r>
              <a:t>芯片团队</a:t>
            </a:r>
            <a:br/>
            <a:r>
              <a:t>★★★★</a:t>
            </a:r>
            <a:br/>
            <a:r>
              <a:t>选型+自研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995160" y="1554480"/>
            <a:ext cx="164592" cy="164592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178040" y="1097280"/>
            <a:ext cx="2148840" cy="11887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59" y="114300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0A5FA"/>
                </a:solidFill>
                <a:latin typeface="PingFang SC"/>
              </a:defRPr>
            </a:pPr>
            <a:r>
              <a:t>吴永辉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59" y="1463040"/>
            <a:ext cx="2057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PingFang SC"/>
              </a:defRPr>
            </a:pPr>
            <a:r>
              <a:t>Seed负责人</a:t>
            </a:r>
            <a:br/>
            <a:r>
              <a:t>★★★★</a:t>
            </a:r>
            <a:br/>
            <a:r>
              <a:t>技术方向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326880" y="1554480"/>
            <a:ext cx="164592" cy="164592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509759" y="1097280"/>
            <a:ext cx="2148840" cy="118872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114300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B82F6"/>
                </a:solidFill>
                <a:latin typeface="PingFang SC"/>
              </a:defRPr>
            </a:pPr>
            <a:r>
              <a:t>梁汝波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1463040"/>
            <a:ext cx="2057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PingFang SC"/>
              </a:defRPr>
            </a:pPr>
            <a:r>
              <a:t>CEO</a:t>
            </a:r>
            <a:br/>
            <a:r>
              <a:t>★★★★★</a:t>
            </a:r>
            <a:br/>
            <a:r>
              <a:t>终批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2880" y="2423160"/>
            <a:ext cx="11704320" cy="36576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defRPr sz="1300" b="1">
                <a:solidFill>
                  <a:srgbClr val="FFFFFF"/>
                </a:solidFill>
                <a:latin typeface="PingFang SC"/>
              </a:defRPr>
            </a:pPr>
            <a:r>
              <a:t>触达路径：火山引擎总裁团队 → Seed技术团队 → 芯片团队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2880" y="2926080"/>
            <a:ext cx="11704320" cy="77724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82880" y="2926080"/>
            <a:ext cx="45720" cy="777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953512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PingFang SC"/>
              </a:defRPr>
            </a:pPr>
            <a:r>
              <a:t>① 推理算力是最大、最确定的销售机会——没有之一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324612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E293B"/>
                </a:solidFill>
                <a:latin typeface="PingFang SC"/>
              </a:defRPr>
            </a:pPr>
            <a:r>
              <a:t>从ChatBot到Agent的范式跃迁，叠加上下文窗口从千级→百万级Token，KV Cache呈平方级增长。日均120万亿Token×16倍/年×Agent 7×24→三重杠杆叠加。昇腾950PR 25-35万颗+寒武纪590 30万颗+高通ASIC数百万颗=千亿级推理芯片市场。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2880" y="3794760"/>
            <a:ext cx="11704320" cy="77724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82880" y="3794760"/>
            <a:ext cx="4572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3822192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PingFang SC"/>
              </a:defRPr>
            </a:pPr>
            <a:r>
              <a:t>② ChatBot→Agent + 上下文暴增 = 算力隐形引擎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411480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E293B"/>
                </a:solidFill>
                <a:latin typeface="PingFang SC"/>
              </a:defRPr>
            </a:pPr>
            <a:r>
              <a:t>短对话→超长Agent(25h+)→百万Token窗口，每次范式升级带来推理算力指数级增长。推理芯片从"峰值弹性"升级为"常驻满负荷"。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2880" y="4663440"/>
            <a:ext cx="11704320" cy="77724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82880" y="4663440"/>
            <a:ext cx="45720" cy="7772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4690872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PingFang SC"/>
              </a:defRPr>
            </a:pPr>
            <a:r>
              <a:t>③ AIGC-Agent是推理需求增长的新引擎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4983479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E293B"/>
                </a:solidFill>
                <a:latin typeface="PingFang SC"/>
              </a:defRPr>
            </a:pPr>
            <a:r>
              <a:t>豆包3.45亿MAU+Seed-Thinking 200B MoE+视频生成80%市场+Agent 7×24→四个场景推理需求远超传统推荐，是未来2-3年推理芯片采购主力驱动。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82880" y="5532120"/>
            <a:ext cx="11704320" cy="77724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82880" y="5532120"/>
            <a:ext cx="4572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5559552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PingFang SC"/>
              </a:defRPr>
            </a:pPr>
            <a:r>
              <a:t>④ 决策链清晰 · 预算充裕 · 窗口期明确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5852159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E293B"/>
                </a:solidFill>
                <a:latin typeface="PingFang SC"/>
              </a:defRPr>
            </a:pPr>
            <a:r>
              <a:t>谭待/杨震原(采购)→施云峰/余红斌(选型)→梁汝波(终批)。2026年850亿-4777亿AI芯片采购预算是中国最大的单客户AI芯片销售机会。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65379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PingFang SC"/>
              </a:defRPr>
            </a:pPr>
            <a:r>
              <a:t>华为"看BA讲TA"方法论 · 察阶段 | v3.2 | 2026-06-01 | 36氪·Bloomberg·Reuters·财联社·IDC·QuestMobile·Sacra·寒武纪财报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