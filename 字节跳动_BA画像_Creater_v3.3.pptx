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E293B"/>
                </a:solidFill>
                <a:latin typeface="PingFang SC"/>
              </a:defRPr>
            </a:pPr>
            <a:r>
              <a:t>字节跳动 BA画像 — 客户基本画像与商业模式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维度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客户名称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字节跳动（ByteDance）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所属行业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互联网/科技 — 社交媒体、内容平台、云计算、AI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营收规模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2025年 ~1860亿美元；净利润~500亿美元（AI投入压缩利润）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60720" y="731520"/>
            <a:ext cx="12344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06440" y="777240"/>
            <a:ext cx="1143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PingFang SC"/>
              </a:defRPr>
            </a:pPr>
            <a:r>
              <a:t>3.45亿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078992"/>
            <a:ext cx="1143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豆包MAU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731520"/>
            <a:ext cx="12344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777240"/>
            <a:ext cx="1143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PingFang SC"/>
              </a:defRPr>
            </a:pPr>
            <a:r>
              <a:t>120万亿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078992"/>
            <a:ext cx="1143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日均Token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731520"/>
            <a:ext cx="12344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777240"/>
            <a:ext cx="1143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PingFang SC"/>
              </a:defRPr>
            </a:pPr>
            <a:r>
              <a:t>$700亿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078992"/>
            <a:ext cx="1143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Capex上限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731520"/>
            <a:ext cx="12344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777240"/>
            <a:ext cx="1143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PingFang SC"/>
              </a:defRPr>
            </a:pPr>
            <a:r>
              <a:t>49.5%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1078992"/>
            <a:ext cx="1143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MaaS份额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47120" y="731520"/>
            <a:ext cx="12344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92840" y="777240"/>
            <a:ext cx="1143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PingFang SC"/>
              </a:defRPr>
            </a:pPr>
            <a:r>
              <a:t>600万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1078992"/>
            <a:ext cx="1143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Trae开发者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463040"/>
            <a:ext cx="6126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PingFang SC"/>
              </a:defRPr>
            </a:pPr>
            <a:r>
              <a:t>发展阶段：成熟期 + AI转型深水区</a:t>
            </a:r>
            <a:br/>
            <a:r>
              <a:t>核心产品三线增长：内容平台(AI短剧/漫剧)、AIGC应用(豆包付费)、火山引擎(Agent Plan)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42316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t>核心业务矩阵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74320" y="2697480"/>
          <a:ext cx="5760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828800"/>
                <a:gridCol w="1188720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类别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产品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规模/地位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AI算力关联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内容与社区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抖音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DAU 7亿+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推荐LLM化↑↑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TikTok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全球DAU 10亿+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海外AIDC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番茄/红果短剧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MAU 2.45/3.04亿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视频推理↑↑↑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创作工具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剪映/即梦AI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全球TOP1 / MAU 7994万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Seedance推理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AI应用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豆包App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MAU 3.45亿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最大推理消费者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Trae/Coze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MAU 600万+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 7×24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企业服务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火山引擎/飞书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MaaS 49.5%第一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全栈AI输出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126480" y="2423160"/>
            <a:ext cx="5760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t>地域结构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26480" y="269748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2468880"/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区域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营收占比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增速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数据源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国内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~70%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~20% YoY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36氪独家(2026.04)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海外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~30%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~50% YoY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TikTok Shop GMV增速~70%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合计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100%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整体高增长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驱动：海外营收占比突破30%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126480" y="4251960"/>
            <a:ext cx="5760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t>收入结构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26480" y="4526280"/>
          <a:ext cx="5760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47472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来源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占比与说明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广告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~55-60% — 抖音/TikTok/头条信息流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电商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~15-20% — 抖音电商+TikTok Shop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云+AI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~5-10% — 火山引擎MaaS+豆包付费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游戏/教育/其他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~5-10%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E293B"/>
                </a:solidFill>
                <a:latin typeface="PingFang SC"/>
              </a:defRPr>
            </a:pPr>
            <a:r>
              <a:t>核心业务流程 — 双轨制：搜索推荐AI闭环 vs AIGC-Agent应用闭环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760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t>左轨：搜索推荐AI闭环（传统核心）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02920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0">
                <a:solidFill>
                  <a:srgbClr val="FFFFFF"/>
                </a:solidFill>
                <a:latin typeface="PingFang SC"/>
              </a:defRPr>
            </a:pPr>
            <a:r>
              <a:t>用户行为数据</a:t>
            </a:r>
            <a:br/>
            <a:r>
              <a:t>抖音/TikTok/头条海量行为</a:t>
            </a:r>
          </a:p>
        </p:txBody>
      </p:sp>
      <p:sp>
        <p:nvSpPr>
          <p:cNvPr id="5" name="Down Arrow 4"/>
          <p:cNvSpPr/>
          <p:nvPr/>
        </p:nvSpPr>
        <p:spPr>
          <a:xfrm>
            <a:off x="3063240" y="1691640"/>
            <a:ext cx="18288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93392"/>
            <a:ext cx="502920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0">
                <a:solidFill>
                  <a:srgbClr val="FFFFFF"/>
                </a:solidFill>
                <a:latin typeface="PingFang SC"/>
              </a:defRPr>
            </a:pPr>
            <a:r>
              <a:t>LLM级生成式推荐</a:t>
            </a:r>
            <a:br/>
            <a:r>
              <a:t>RankMixer→OneTrans→广告电商转化</a:t>
            </a:r>
          </a:p>
        </p:txBody>
      </p:sp>
      <p:sp>
        <p:nvSpPr>
          <p:cNvPr id="7" name="Down Arrow 6"/>
          <p:cNvSpPr/>
          <p:nvPr/>
        </p:nvSpPr>
        <p:spPr>
          <a:xfrm>
            <a:off x="3063240" y="2770632"/>
            <a:ext cx="18288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889504"/>
            <a:ext cx="502920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0">
                <a:solidFill>
                  <a:srgbClr val="FFFFFF"/>
                </a:solidFill>
                <a:latin typeface="PingFang SC"/>
              </a:defRPr>
            </a:pPr>
            <a:r>
              <a:t>AI基础设施投入</a:t>
            </a:r>
            <a:br/>
            <a:r>
              <a:t>现金流支撑Capex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63240" y="3483864"/>
            <a:ext cx="18288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85616"/>
            <a:ext cx="502920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0">
                <a:solidFill>
                  <a:srgbClr val="FFFFFF"/>
                </a:solidFill>
                <a:latin typeface="PingFang SC"/>
              </a:defRPr>
            </a:pPr>
            <a:r>
              <a:t>更强模型→更好体验</a:t>
            </a:r>
            <a:br/>
            <a:r>
              <a:t>→更多数据→封闭飞轮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636008"/>
            <a:ext cx="5760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PingFang SC"/>
              </a:defRPr>
            </a:pPr>
            <a:r>
              <a:t>⚙ 芯片需求：训练GPU（昇腾910C + AMD）为主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731520"/>
            <a:ext cx="5760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t>右轨：AIGC-Agent应用闭环（新AI增长极）⭐ 主线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1097280"/>
            <a:ext cx="128016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>
                <a:solidFill>
                  <a:srgbClr val="FFFFFF"/>
                </a:solidFill>
                <a:latin typeface="PingFang SC"/>
              </a:defRPr>
            </a:pPr>
            <a:r>
              <a:t>豆包App</a:t>
            </a:r>
            <a:br/>
            <a:r>
              <a:t>MAU 3.45亿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63256" y="1097280"/>
            <a:ext cx="128016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>
                <a:solidFill>
                  <a:srgbClr val="FFFFFF"/>
                </a:solidFill>
                <a:latin typeface="PingFang SC"/>
              </a:defRPr>
            </a:pPr>
            <a:r>
              <a:t>即梦+剪映</a:t>
            </a:r>
            <a:br/>
            <a:r>
              <a:t>Seedance 2.0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3144" y="1097280"/>
            <a:ext cx="128016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>
                <a:solidFill>
                  <a:srgbClr val="FFFFFF"/>
                </a:solidFill>
                <a:latin typeface="PingFang SC"/>
              </a:defRPr>
            </a:pPr>
            <a:r>
              <a:t>Trae+Coze</a:t>
            </a:r>
            <a:br/>
            <a:r>
              <a:t>600万开发者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1097280"/>
            <a:ext cx="128016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>
                <a:solidFill>
                  <a:srgbClr val="FFFFFF"/>
                </a:solidFill>
                <a:latin typeface="PingFang SC"/>
              </a:defRPr>
            </a:pPr>
            <a:r>
              <a:t>火山引擎MaaS</a:t>
            </a:r>
            <a:br/>
            <a:r>
              <a:t>49.5%份额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377440"/>
            <a:ext cx="50292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0">
                <a:solidFill>
                  <a:srgbClr val="FFFFFF"/>
                </a:solidFill>
                <a:latin typeface="PingFang SC"/>
              </a:defRPr>
            </a:pPr>
            <a:r>
              <a:t>算法策略与模型矩阵：Seed-2.0-pro(200B MoE) + Seed-Thinking-v1.5 + lite全模态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154680"/>
            <a:ext cx="50292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50">
                <a:solidFill>
                  <a:srgbClr val="FFFFFF"/>
                </a:solidFill>
                <a:latin typeface="PingFang SC"/>
              </a:defRPr>
            </a:pPr>
            <a:r>
              <a:t>AI芯片与算力供应：昇腾950PR + 寒武纪590 + 高通ASIC + 自研Ada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006840" y="3657600"/>
            <a:ext cx="18288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5760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PingFang SC"/>
              </a:defRPr>
            </a:pPr>
            <a:r>
              <a:t>日均120万亿Token × Agent 7×24 × 百万Token上下文 → 推理芯片扩容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126480"/>
            <a:ext cx="11612880" cy="59436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153912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① AI推理成本爆炸：日均120万亿Token，16倍/年↑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>
                <a:solidFill>
                  <a:srgbClr val="1E293B"/>
                </a:solidFill>
                <a:latin typeface="PingFang SC"/>
              </a:defRPr>
            </a:pPr>
            <a:r>
              <a:t>② 英伟达断供→供应链重构：H20退场，训练芯片缺口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>
                <a:solidFill>
                  <a:srgbClr val="1E293B"/>
                </a:solidFill>
                <a:latin typeface="PingFang SC"/>
              </a:defRPr>
            </a:pPr>
            <a:r>
              <a:t>③ 视频生成算力不足：Seedance占80%算力，排队拥堵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>
                <a:solidFill>
                  <a:srgbClr val="1E293B"/>
                </a:solidFill>
                <a:latin typeface="PingFang SC"/>
              </a:defRPr>
            </a:pPr>
            <a:r>
              <a:t>④ 国产芯片产能瓶颈：华为满产，寒武纪排至2027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900">
                <a:solidFill>
                  <a:srgbClr val="1E293B"/>
                </a:solidFill>
                <a:latin typeface="PingFang SC"/>
              </a:defRPr>
            </a:pPr>
            <a:r>
              <a:t>⑤ 存储芯片涨价：DRAM 250%+，HBM依赖海外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E293B"/>
                </a:solidFill>
                <a:latin typeface="PingFang SC"/>
              </a:defRPr>
            </a:pPr>
            <a:r>
              <a:t>AI高价值场景 — 三梯队聚焦昇腾可服务场景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1161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563EB"/>
                </a:solidFill>
                <a:latin typeface="PingFang SC"/>
              </a:defRPr>
            </a:pPr>
            <a:r>
              <a:t>第一梯队：推理算力密集型（P0 — 直接拉升NPU/ASIC需求）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3017520"/>
                <a:gridCol w="3017520"/>
              </a:tblGrid>
              <a:tr h="1828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豆包大模型推理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日均120万亿Token</a:t>
                      </a:r>
                      <a:br/>
                      <a:r>
                        <a:t>16倍/年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NPU 25-35万颗</a:t>
                      </a:r>
                      <a:br/>
                      <a:r>
                        <a:t>+ASIC数百万颗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昇腾950PR推理集群扩容</a:t>
                      </a:r>
                      <a:br/>
                      <a:r>
                        <a:t>高通ASIC部署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 7×24运行🆙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单次请求→持续运行</a:t>
                      </a:r>
                      <a:br/>
                      <a:r>
                        <a:t>结构性质变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NPU/ASIC常驻推理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Agent运行时降本方案</a:t>
                      </a:r>
                      <a:br/>
                      <a:r>
                        <a:t>长记忆管理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Seedance视频生成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占市场80%</a:t>
                      </a:r>
                      <a:br/>
                      <a:r>
                        <a:t>排队拥堵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视频推理专用NPU集群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单卡推理效率极致优化</a:t>
                      </a:r>
                      <a:br/>
                      <a:r>
                        <a:t>降低单视频成本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Trae AI编程推理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Token半年+700%</a:t>
                      </a:r>
                      <a:br/>
                      <a:r>
                        <a:t>多模型聚合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低延迟NPU推理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&lt;200ms TTFT</a:t>
                      </a:r>
                      <a:br/>
                      <a:r>
                        <a:t>推理链路优化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2286000"/>
            <a:ext cx="1161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563EB"/>
                </a:solidFill>
                <a:latin typeface="PingFang SC"/>
              </a:defRPr>
            </a:pPr>
            <a:r>
              <a:t>第二梯队：训练+推理混合（P1）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560320"/>
          <a:ext cx="11612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301752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算力特征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推荐/广告LLM级训练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千卡级MoE训练</a:t>
                      </a:r>
                      <a:br/>
                      <a:r>
                        <a:t>万级序列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训练GPU ~7万颗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昇腾910C训练集群</a:t>
                      </a:r>
                      <a:br/>
                      <a:r>
                        <a:t>CANN适配工具链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火山引擎MaaS多模型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49.5%调用量</a:t>
                      </a:r>
                      <a:br/>
                      <a:r>
                        <a:t>多模型混部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推理NPU+GPU混合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多模型路由调度</a:t>
                      </a:r>
                      <a:br/>
                      <a:r>
                        <a:t>训推一体平台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657600"/>
            <a:ext cx="1161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563EB"/>
                </a:solidFill>
                <a:latin typeface="PingFang SC"/>
              </a:defRPr>
            </a:pPr>
            <a:r>
              <a:t>第三梯队：增量推理（P1-P2）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3931920"/>
          <a:ext cx="116128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301752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火山引擎汽车AI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日均3000万+次</a:t>
                      </a:r>
                      <a:br/>
                      <a:r>
                        <a:t>700万+搭载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端侧+云端混合NPU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车载推理芯片方案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飞书AI办公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AaaS</a:t>
                      </a:r>
                      <a:br/>
                      <a:r>
                        <a:t>赛力斯174场景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中轻量推理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企业AI落地推理方案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E293B"/>
                </a:solidFill>
                <a:latin typeface="PingFang SC"/>
              </a:defRPr>
            </a:pPr>
            <a:r>
              <a:t>算力需求映射与推理芯片供需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t>业务 → 算力映射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731520"/>
                <a:gridCol w="1920240"/>
              </a:tblGrid>
              <a:tr h="2641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业务场景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模型/负载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当前规模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豆包C端推理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Seed-2.0-pro 200B MoE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日均120万亿Token   ↑↑↑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Agent生态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ArkClaw/Coze 7×24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单次→持续(结构变)   ↑↑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Seedance视频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双分支扩散Transformer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市场80%算力   ↑↑↑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Trae编程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多模型聚合推理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Token半年+700%   ↑↑↑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推荐/广告训练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OneTrans/HyFormer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训练+推理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万级序列LLM级   ↑↑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火山引擎MaaS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多模型混部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全行业1944万亿Token   ↑↑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汽车AI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对话推理引擎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日均3000万+次   ↑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飞书AI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aily Agent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赛力斯174场景   ↑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0760" y="73152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t>推理芯片供需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80760" y="100584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822960"/>
                <a:gridCol w="1005840"/>
                <a:gridCol w="1097280"/>
                <a:gridCol w="1828800"/>
              </a:tblGrid>
              <a:tr h="26125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供应商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2026规模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缺口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动态</a:t>
                      </a:r>
                    </a:p>
                  </a:txBody>
                  <a:tcPr anchor="ctr" marL="50800" marR="50800" marT="25400" marB="25400">
                    <a:solidFill>
                      <a:srgbClr val="2563EB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昇腾950PR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25-35万颗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产能预订满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国产推理主力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寒武纪590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30万颗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排至2027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Q1首盈&gt;10亿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推理ASIC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高通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数百万颗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填补NPU缺口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彭博5/26确认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自研推理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Ada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10-35万颗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起步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三星6nm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昇腾910C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~7万颗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供应受限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国产训练主力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AMD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待确认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替代英伟达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新供应商</a:t>
                      </a:r>
                    </a:p>
                  </a:txBody>
                  <a:tcPr anchor="ctr" marL="50800" marR="50800" marT="25400" marB="254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611880"/>
            <a:ext cx="1161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2563EB"/>
                </a:solidFill>
                <a:latin typeface="PingFang SC"/>
              </a:defRPr>
            </a:pPr>
            <a:r>
              <a:t>上下文长度暴增 — 从ChatBot到Agent的算力隐形引擎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" y="3886200"/>
            <a:ext cx="256032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" y="3886200"/>
            <a:ext cx="457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" y="395935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千Token级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" y="4270248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E293B"/>
                </a:solidFill>
                <a:latin typeface="PingFang SC"/>
              </a:defRPr>
            </a:pPr>
            <a:r>
              <a:t>短对话</a:t>
            </a:r>
            <a:br/>
            <a:r>
              <a:t>单次问答即结束</a:t>
            </a:r>
            <a:br/>
            <a:r>
              <a:t>KV Cache小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47188" y="4315968"/>
            <a:ext cx="320040" cy="14630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3260" y="3886200"/>
            <a:ext cx="256032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3260" y="3886200"/>
            <a:ext cx="457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2988" y="395935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万Token级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2988" y="4270248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E293B"/>
                </a:solidFill>
                <a:latin typeface="PingFang SC"/>
              </a:defRPr>
            </a:pPr>
            <a:r>
              <a:t>长文档</a:t>
            </a:r>
            <a:br/>
            <a:r>
              <a:t>多轮深度对话</a:t>
            </a:r>
            <a:br/>
            <a:r>
              <a:t>KV Cache线性增长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01868" y="4315968"/>
            <a:ext cx="320040" cy="14630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7940" y="3886200"/>
            <a:ext cx="256032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77940" y="3886200"/>
            <a:ext cx="457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7668" y="395935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百万Token级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7668" y="4270248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E293B"/>
                </a:solidFill>
                <a:latin typeface="PingFang SC"/>
              </a:defRPr>
            </a:pPr>
            <a:r>
              <a:t>豆包v13.2.0</a:t>
            </a:r>
            <a:br/>
            <a:r>
              <a:t>超长上下文</a:t>
            </a:r>
            <a:br/>
            <a:r>
              <a:t>KV Cache平方级增长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56548" y="4315968"/>
            <a:ext cx="320040" cy="146304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32620" y="3886200"/>
            <a:ext cx="256032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32620" y="3886200"/>
            <a:ext cx="457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2348" y="3959352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25h+持续运行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2348" y="4270248"/>
            <a:ext cx="2423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E293B"/>
                </a:solidFill>
                <a:latin typeface="PingFang SC"/>
              </a:defRPr>
            </a:pPr>
            <a:r>
              <a:t>Seed-2.0-lite</a:t>
            </a:r>
            <a:br/>
            <a:r>
              <a:t>Agent持续思考</a:t>
            </a:r>
            <a:br/>
            <a:r>
              <a:t>常驻满负荷推理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074920"/>
            <a:ext cx="11612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E293B"/>
                </a:solidFill>
                <a:latin typeface="PingFang SC"/>
              </a:defRPr>
            </a:pPr>
            <a:r>
              <a:t>💡 推理算力是最大、最确定的销售机会：日均120万亿Token + 16倍/年增速 + Agent 7×24持续运行 → 推理芯片缺口千亿级市场。昇腾950PR(25-35万颗) + 寒武纪590(30万颗) + 高通ASIC(数百万颗) = 核心供应格局。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E293B"/>
                </a:solidFill>
                <a:latin typeface="PingFang SC"/>
              </a:defRPr>
            </a:pPr>
            <a:r>
              <a:t>决策链与洞察摘要 — 触达路径与销售策略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2103120" cy="114300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4572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火山引擎总裁</a:t>
            </a:r>
            <a:br/>
            <a:r>
              <a:t>谭待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E293B"/>
                </a:solidFill>
                <a:latin typeface="PingFang SC"/>
              </a:defRPr>
            </a:pPr>
            <a:r>
              <a:t>芯片采购+AI Infra</a:t>
            </a:r>
            <a:br/>
            <a:r>
              <a:t>最终决策 ★★★★★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78608" y="1239012"/>
            <a:ext cx="228600" cy="12801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731520"/>
            <a:ext cx="2103120" cy="114300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731520"/>
            <a:ext cx="4572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804672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火山引擎BU</a:t>
            </a:r>
            <a:br/>
            <a:r>
              <a:t>杨震原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1234440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E293B"/>
                </a:solidFill>
                <a:latin typeface="PingFang SC"/>
              </a:defRPr>
            </a:pPr>
            <a:r>
              <a:t>整体战略</a:t>
            </a:r>
            <a:br/>
            <a:r>
              <a:t>★★★★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64608" y="1239012"/>
            <a:ext cx="228600" cy="12801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731520"/>
            <a:ext cx="2103120" cy="114300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731520"/>
            <a:ext cx="4572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804672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芯片团队</a:t>
            </a:r>
            <a:br/>
            <a:r>
              <a:t>施云峰/余红斌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1234440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E293B"/>
                </a:solidFill>
                <a:latin typeface="PingFang SC"/>
              </a:defRPr>
            </a:pPr>
            <a:r>
              <a:t>芯片选型+自研</a:t>
            </a:r>
            <a:br/>
            <a:r>
              <a:t>(含CPU) ★★★★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50608" y="1239012"/>
            <a:ext cx="228600" cy="12801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731520"/>
            <a:ext cx="2103120" cy="114300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731520"/>
            <a:ext cx="4572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804672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Seed负责人</a:t>
            </a:r>
            <a:br/>
            <a:r>
              <a:t>吴永辉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1234440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E293B"/>
                </a:solidFill>
                <a:latin typeface="PingFang SC"/>
              </a:defRPr>
            </a:pPr>
            <a:r>
              <a:t>大模型技术方向</a:t>
            </a:r>
            <a:br/>
            <a:r>
              <a:t>★★★★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36608" y="1239012"/>
            <a:ext cx="228600" cy="12801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731520"/>
            <a:ext cx="2103120" cy="1143000"/>
          </a:xfrm>
          <a:prstGeom prst="rect">
            <a:avLst/>
          </a:prstGeom>
          <a:solidFill>
            <a:srgbClr val="EFF6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731520"/>
            <a:ext cx="4572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804672"/>
            <a:ext cx="1965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CEO</a:t>
            </a:r>
            <a:br/>
            <a:r>
              <a:t>梁汝波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1234440"/>
            <a:ext cx="195681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1E293B"/>
                </a:solidFill>
                <a:latin typeface="PingFang SC"/>
              </a:defRPr>
            </a:pPr>
            <a:r>
              <a:t>终批</a:t>
            </a:r>
            <a:br/>
            <a:r>
              <a:t>★★★★★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1984248"/>
            <a:ext cx="1161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PingFang SC"/>
              </a:defRPr>
            </a:pPr>
            <a:r>
              <a:t>触达路径：火山引擎总裁团队 → Seed技术团队 → 芯片团队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350008"/>
            <a:ext cx="11612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2350008"/>
            <a:ext cx="54864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404872"/>
            <a:ext cx="11384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① 推理算力是最大、最确定的销售机会——没有之一。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2670048"/>
            <a:ext cx="11384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字节从ChatBot到Agent的范式跃迁，叠加上下文窗口从千级Token扩展到百万级（豆包v13.2.0已支持百万Token窗口），使单次推理的KV Cache和计算量呈平方级增长。日均120万亿Token + 16倍/年增速 + Agent 7×24持续运行——三重杠杆叠加，推理芯片缺口是当前最紧迫需求。昇腾950PR（25-35万颗）+ 寒武纪590（30万颗）+ 高通ASIC（数百万颗）= 千亿级推理芯片市场。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65576"/>
            <a:ext cx="11612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465576"/>
            <a:ext cx="54864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520440"/>
            <a:ext cx="11384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② 从ChatBot到Agent，上下文长度暴增是算力需求的隐形引擎。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785616"/>
            <a:ext cx="11384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短对话（千Token级）→ 超长Agent任务（Seed-2.0-lite支持25小时+持续运行）→ 百万Token上下文窗口，每一次范式升级都带来推理算力的指数级增长。Agent不再是"一次问答"，而是"持续思考+调用工具+长记忆"——推理芯片需要从"峰值弹性"升级为"常驻满负荷"。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581144"/>
            <a:ext cx="11612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581144"/>
            <a:ext cx="54864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636008"/>
            <a:ext cx="11384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③ AIGC-Agent是推理需求增长的新引擎。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901184"/>
            <a:ext cx="11384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豆包3.45亿MAU + Seed-Thinking推理模型（200B MoE，思考链延长增加推理量）+ 视频生成占市场80% + Agent 7×24运行——这四场景的推理需求增长远超传统推荐系统，是未来2-3年推理芯片采购的主力驱动。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96712"/>
            <a:ext cx="11612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696712"/>
            <a:ext cx="54864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751576"/>
            <a:ext cx="11384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563EB"/>
                </a:solidFill>
                <a:latin typeface="PingFang SC"/>
              </a:defRPr>
            </a:pPr>
            <a:r>
              <a:t>④ 2026年850亿-4777亿AI芯片采购预算是中国最大的单客户AI芯片销售机会。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016752"/>
            <a:ext cx="11384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谭待/杨震原（采购决策）→ 施云峰/余红斌（选型）→ 梁汝波（终批），决策链清晰、预算充裕、窗口期明确。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